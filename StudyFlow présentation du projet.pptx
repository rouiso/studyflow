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StudyFlow : une application web de gestion de projet pour équipes étudiantes, de type mini-Trello. Compléter la matière et l'année universitaire sur cette slide et sur la dernière.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parties. Prévoir environ une minute par slide, soit une vingtaine de minutes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de groupe typique utilise quatre outils qui ne se parlent pas. Les outils professionnels existent (Trello, Notion, Jira) mais sont trop complexes, payants ou mal adaptés au contexte étudiant.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centrale : tout ce dont une équipe a besoin (tableau, tâches, calendrier, chat, fichiers, statistiques) au même endroit, avec des droits clairs pour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repères pour juger la réussite : sept modules qui s'assemblent, quatre rôles avec des droits vérifiés côté serveur, et une prise en main rapide pour une équipe de cinq étudiants.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modules ont été pensés à partir de ces quatre profils. L'observateur (rôle en lecture seule) correspond à l'enseignant référent.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développeur est responsable d'un module et le présente ensuite. Chacun porte aussi une responsabilité transverse (permissions, interface, schéma de données, tests, serveur temps réel, sécurité, documentation) qui relie les sept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User, Team, TeamMember. Le module 1 livre dès la première semaine la bibliothèque de permissions utilisée par tous les autres modules, avec ses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Project, Column, ProjectTemplate. L'ordre des cartes repose sur une position de type texte (fractional indexing) : on peut insérer une carte entre deux autres sans renuméroter la colonne. Déplacer une carte dans la colonne Terminé enregistre sa date de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Task, Subtask, Label. Les commentaires d'une tâche viennent du fil de discussion du module 5, que le module 3 intègre dans le détail de la tâche. La page « Mes tâches » est dans le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Milestone, Reminder, CalendarToken. Les dates sont stockées en UTC et affichées dans le fuseau de l'utilisateur. Les tâches sans échéance sont listées à part. Les rappels passent par les notifications du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Channel, Message, Notification. Le serveur auxiliaire (Socket.IO et tâches planifiées) tourne en local avec l'application : le Dev 5 le met en place en première semaine, et tous les modules l'utilisent pour publier leurs événements.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File, Folder, FileVersion. Limites proposées : 20 Mo par fichier, 500 Mo par équipe, exécutables refusés, type du fichier vérifié côté serveur. Les fichiers sont stockés sur le disque de la machine qui fait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Entités : Activity, ProjectSnapshot, Report. Le module 7 fournit à tous les autres la fonction qui enregistre chaque action dans le journal. Une tâche est en retard si son échéance est dépassée et qu'elle n'est pas terminée. Les statistiques de charge servent à équilibrer le travail, pas à classer les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s'exécute en local : un serveur Node avec Socket.IO suffit pour le temps réel, sans service externe à configurer. Le stockage des fichiers se fait sur disque et les e-mails de test sont capturés par Mailpit.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règles sont figées dès la première semaine pour que les sept modules s'assemblent sans surprise. Chaque module vit dans son dossier et expose ses pages dans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Prisma est écrit en première semaine par le Dev 3. Toute modification d'une table passe par une pull request validée par le propriétaire de la table. Supprimer une équipe supprime en cascade ses projets, tâches, fichiers et messages. Les commentaires d'une tâche sont des messages d'un canal de type tâche.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Remplacer Dev 1 à Dev 7 par les prénoms de l'équipe. Chaque développeur porte un module (15 jours-homme) et une responsabilité (3 jours-homme) qui sert toute l'équipe. Un chef de projet, tournant toutes les deux semaines ou désigné, anime les réunions et arbitre en cas de désaccord.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Commits au format Conventional Commits. Toute modification du schéma de base de données est annoncée à l'équipe avant la fusion. Nous utiliserons StudyFlow lui-même pour suivre notre avancement dès qu'il sera utilisable.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indicatif sur huit semaines, à adapter au calendrier réel. L'intégration ne doit pas attendre la fin : première intégration bout en bout en fin de semaine 3 (créer une équipe, un projet, une tâche, la déplacer).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Autres risques suivis : surcharge ou abandon d'un membre (documenter chaque module, binômage croisé, priorités P1 à P3 pour réduire le périmètre), incohérence visuelle entre modules (design system partagé), fonctionnalités bonus avant les essentielles.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le jeu de données de démonstration (une équipe, cinq membres, deux projets, une quarantaine de tâches, quelques messages et fichiers). Ouvrir deux navigateurs côte à côte pour montrer la synchronisation en direct. Prévoir une vidéo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barème est indicatif : à ajuster selon les consignes de l'enseignant. La démonstration se fait en local, avec le jeu de données préparé.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un temps pour les questions. Chaque développeur répond pour son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921"/>
            <a:ext cx="10566400" cy="461010"/>
          </a:xfrm>
          <a:prstGeom prst="rect">
            <a:avLst/>
          </a:prstGeom>
          <a:noFill/>
          <a:ln/>
        </p:spPr>
        <p:txBody>
          <a:bodyPr wrap="square" lIns="0" tIns="0" rIns="0" bIns="0" rtlCol="0" anchor="t"/>
          <a:lstStyle>
            <a:lvl1pPr algn="l" indent="0" marL="0">
              <a:lnSpc>
                <a:spcPct val="115000"/>
              </a:lnSpc>
              <a:buNone/>
              <a:defRPr lang="en-US" sz="33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300" dirty="0"/>
          </a:p>
        </p:txBody>
      </p:sp>
      <p:sp>
        <p:nvSpPr>
          <p:cNvPr id="3" name="Text Placeholder 2"/>
          <p:cNvSpPr/>
          <p:nvPr>
            <p:ph idx="101" type="body"/>
          </p:nvPr>
        </p:nvSpPr>
        <p:spPr>
          <a:xfrm>
            <a:off x="812800" y="1903731"/>
            <a:ext cx="10566400" cy="414146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921"/>
            <a:ext cx="10566400" cy="461010"/>
          </a:xfrm>
          <a:prstGeom prst="rect">
            <a:avLst/>
          </a:prstGeom>
          <a:noFill/>
          <a:ln/>
        </p:spPr>
        <p:txBody>
          <a:bodyPr wrap="square" lIns="0" tIns="0" rIns="0" bIns="0" rtlCol="0" anchor="t"/>
          <a:lstStyle>
            <a:lvl1pPr algn="l" indent="0" marL="0">
              <a:lnSpc>
                <a:spcPct val="115000"/>
              </a:lnSpc>
              <a:buNone/>
              <a:defRPr lang="en-US" sz="33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300" dirty="0"/>
          </a:p>
        </p:txBody>
      </p:sp>
      <p:sp>
        <p:nvSpPr>
          <p:cNvPr id="3" name="Text Placeholder 2"/>
          <p:cNvSpPr/>
          <p:nvPr>
            <p:ph idx="101" type="body"/>
          </p:nvPr>
        </p:nvSpPr>
        <p:spPr>
          <a:xfrm>
            <a:off x="812800" y="1903731"/>
            <a:ext cx="10566400" cy="414146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6985000" y="1117600"/>
            <a:ext cx="1380014" cy="4064000"/>
          </a:xfrm>
          <a:prstGeom prst="roundRect">
            <a:avLst>
              <a:gd name="adj" fmla="val 9203"/>
            </a:avLst>
          </a:prstGeom>
          <a:solidFill>
            <a:srgbClr val="1E3158"/>
          </a:solidFill>
          <a:ln/>
        </p:spPr>
      </p:sp>
      <p:sp>
        <p:nvSpPr>
          <p:cNvPr id="3" name="Shape 1"/>
          <p:cNvSpPr/>
          <p:nvPr/>
        </p:nvSpPr>
        <p:spPr>
          <a:xfrm>
            <a:off x="7112000" y="1244600"/>
            <a:ext cx="571500" cy="76200"/>
          </a:xfrm>
          <a:prstGeom prst="roundRect">
            <a:avLst>
              <a:gd name="adj" fmla="val 50000"/>
            </a:avLst>
          </a:prstGeom>
          <a:solidFill>
            <a:srgbClr val="5B6D96"/>
          </a:solidFill>
          <a:ln/>
        </p:spPr>
      </p:sp>
      <p:sp>
        <p:nvSpPr>
          <p:cNvPr id="4" name="Shape 2"/>
          <p:cNvSpPr/>
          <p:nvPr/>
        </p:nvSpPr>
        <p:spPr>
          <a:xfrm>
            <a:off x="7112000" y="1422400"/>
            <a:ext cx="1126014" cy="609600"/>
          </a:xfrm>
          <a:prstGeom prst="roundRect">
            <a:avLst>
              <a:gd name="adj" fmla="val 12500"/>
            </a:avLst>
          </a:prstGeom>
          <a:solidFill>
            <a:srgbClr val="F7F5EF"/>
          </a:solidFill>
          <a:ln/>
        </p:spPr>
      </p:sp>
      <p:sp>
        <p:nvSpPr>
          <p:cNvPr id="5" name="Shape 3"/>
          <p:cNvSpPr/>
          <p:nvPr/>
        </p:nvSpPr>
        <p:spPr>
          <a:xfrm>
            <a:off x="7112000" y="1422400"/>
            <a:ext cx="1126014" cy="609600"/>
          </a:xfrm>
          <a:custGeom>
            <a:avLst/>
            <a:gdLst/>
            <a:ahLst/>
            <a:cxnLst/>
            <a:rect l="l" t="t" r="r" b="b"/>
            <a:pathLst>
              <a:path w="1126014" h="609600">
                <a:moveTo>
                  <a:pt x="0" y="76200"/>
                </a:moveTo>
                <a:lnTo>
                  <a:pt x="0" y="76200"/>
                </a:lnTo>
                <a:arcTo hR="76200" wR="76200" stAng="10800000" swAng="5400000"/>
                <a:lnTo>
                  <a:pt x="1049814" y="0"/>
                </a:lnTo>
                <a:arcTo hR="76200" wR="76200" stAng="16200000" swAng="5400000"/>
                <a:lnTo>
                  <a:pt x="1126014" y="76200"/>
                </a:lnTo>
                <a:arcTo hR="12700" wR="76200" stAng="0" swAng="-5400000"/>
                <a:lnTo>
                  <a:pt x="76200" y="63500"/>
                </a:lnTo>
                <a:arcTo hR="12700" wR="76200" stAng="16200000" swAng="-5400000"/>
                <a:close/>
              </a:path>
            </a:pathLst>
          </a:custGeom>
          <a:solidFill>
            <a:srgbClr val="F2A33A"/>
          </a:solidFill>
          <a:ln/>
        </p:spPr>
      </p:sp>
      <p:sp>
        <p:nvSpPr>
          <p:cNvPr id="6" name="Shape 4"/>
          <p:cNvSpPr/>
          <p:nvPr/>
        </p:nvSpPr>
        <p:spPr>
          <a:xfrm>
            <a:off x="7112000" y="2133600"/>
            <a:ext cx="1126014" cy="457200"/>
          </a:xfrm>
          <a:prstGeom prst="roundRect">
            <a:avLst>
              <a:gd name="adj" fmla="val 16667"/>
            </a:avLst>
          </a:prstGeom>
          <a:solidFill>
            <a:srgbClr val="F7F5EF"/>
          </a:solidFill>
          <a:ln/>
        </p:spPr>
      </p:sp>
      <p:sp>
        <p:nvSpPr>
          <p:cNvPr id="7" name="Shape 5"/>
          <p:cNvSpPr/>
          <p:nvPr/>
        </p:nvSpPr>
        <p:spPr>
          <a:xfrm>
            <a:off x="7112000" y="2133600"/>
            <a:ext cx="1126014" cy="457200"/>
          </a:xfrm>
          <a:custGeom>
            <a:avLst/>
            <a:gdLst/>
            <a:ahLst/>
            <a:cxnLst/>
            <a:rect l="l" t="t" r="r" b="b"/>
            <a:pathLst>
              <a:path w="1126014" h="457200">
                <a:moveTo>
                  <a:pt x="0" y="76200"/>
                </a:moveTo>
                <a:lnTo>
                  <a:pt x="0" y="76200"/>
                </a:lnTo>
                <a:arcTo hR="76200" wR="76200" stAng="10800000" swAng="5400000"/>
                <a:lnTo>
                  <a:pt x="1049814" y="0"/>
                </a:lnTo>
                <a:arcTo hR="76200" wR="76200" stAng="16200000" swAng="5400000"/>
                <a:lnTo>
                  <a:pt x="1126014" y="76200"/>
                </a:lnTo>
                <a:arcTo hR="12700" wR="76200" stAng="0" swAng="-5400000"/>
                <a:lnTo>
                  <a:pt x="76200" y="63500"/>
                </a:lnTo>
                <a:arcTo hR="12700" wR="76200" stAng="16200000" swAng="-5400000"/>
                <a:close/>
              </a:path>
            </a:pathLst>
          </a:custGeom>
          <a:solidFill>
            <a:srgbClr val="2A5BD7"/>
          </a:solidFill>
          <a:ln/>
        </p:spPr>
      </p:sp>
      <p:sp>
        <p:nvSpPr>
          <p:cNvPr id="8" name="Shape 6"/>
          <p:cNvSpPr/>
          <p:nvPr/>
        </p:nvSpPr>
        <p:spPr>
          <a:xfrm>
            <a:off x="7112000" y="2692400"/>
            <a:ext cx="1126014" cy="762000"/>
          </a:xfrm>
          <a:prstGeom prst="roundRect">
            <a:avLst>
              <a:gd name="adj" fmla="val 10000"/>
            </a:avLst>
          </a:prstGeom>
          <a:solidFill>
            <a:srgbClr val="F7F5EF"/>
          </a:solidFill>
          <a:ln/>
        </p:spPr>
      </p:sp>
      <p:sp>
        <p:nvSpPr>
          <p:cNvPr id="9" name="Shape 7"/>
          <p:cNvSpPr/>
          <p:nvPr/>
        </p:nvSpPr>
        <p:spPr>
          <a:xfrm>
            <a:off x="7112000" y="2692400"/>
            <a:ext cx="1126014" cy="762000"/>
          </a:xfrm>
          <a:custGeom>
            <a:avLst/>
            <a:gdLst/>
            <a:ahLst/>
            <a:cxnLst/>
            <a:rect l="l" t="t" r="r" b="b"/>
            <a:pathLst>
              <a:path w="1126014" h="762000">
                <a:moveTo>
                  <a:pt x="0" y="76200"/>
                </a:moveTo>
                <a:lnTo>
                  <a:pt x="0" y="76200"/>
                </a:lnTo>
                <a:arcTo hR="76200" wR="76200" stAng="10800000" swAng="5400000"/>
                <a:lnTo>
                  <a:pt x="1049814" y="0"/>
                </a:lnTo>
                <a:arcTo hR="76200" wR="76200" stAng="16200000" swAng="5400000"/>
                <a:lnTo>
                  <a:pt x="1126014" y="76200"/>
                </a:lnTo>
                <a:arcTo hR="12700" wR="76200" stAng="0" swAng="-5400000"/>
                <a:lnTo>
                  <a:pt x="76200" y="63500"/>
                </a:lnTo>
                <a:arcTo hR="12700" wR="76200" stAng="16200000" swAng="-5400000"/>
                <a:close/>
              </a:path>
            </a:pathLst>
          </a:custGeom>
          <a:solidFill>
            <a:srgbClr val="3FB68B"/>
          </a:solidFill>
          <a:ln/>
        </p:spPr>
      </p:sp>
      <p:sp>
        <p:nvSpPr>
          <p:cNvPr id="10" name="Shape 8"/>
          <p:cNvSpPr/>
          <p:nvPr/>
        </p:nvSpPr>
        <p:spPr>
          <a:xfrm>
            <a:off x="8492014" y="1117600"/>
            <a:ext cx="1380093" cy="4064000"/>
          </a:xfrm>
          <a:prstGeom prst="roundRect">
            <a:avLst>
              <a:gd name="adj" fmla="val 9202"/>
            </a:avLst>
          </a:prstGeom>
          <a:solidFill>
            <a:srgbClr val="1E3158"/>
          </a:solidFill>
          <a:ln/>
        </p:spPr>
      </p:sp>
      <p:sp>
        <p:nvSpPr>
          <p:cNvPr id="11" name="Shape 9"/>
          <p:cNvSpPr/>
          <p:nvPr/>
        </p:nvSpPr>
        <p:spPr>
          <a:xfrm>
            <a:off x="8619014" y="1244600"/>
            <a:ext cx="698500" cy="76200"/>
          </a:xfrm>
          <a:prstGeom prst="roundRect">
            <a:avLst>
              <a:gd name="adj" fmla="val 50000"/>
            </a:avLst>
          </a:prstGeom>
          <a:solidFill>
            <a:srgbClr val="5B6D96"/>
          </a:solidFill>
          <a:ln/>
        </p:spPr>
      </p:sp>
      <p:sp>
        <p:nvSpPr>
          <p:cNvPr id="12" name="Shape 10"/>
          <p:cNvSpPr/>
          <p:nvPr/>
        </p:nvSpPr>
        <p:spPr>
          <a:xfrm>
            <a:off x="8619014" y="1422400"/>
            <a:ext cx="1126093" cy="762000"/>
          </a:xfrm>
          <a:prstGeom prst="roundRect">
            <a:avLst>
              <a:gd name="adj" fmla="val 10000"/>
            </a:avLst>
          </a:prstGeom>
          <a:solidFill>
            <a:srgbClr val="F7F5EF"/>
          </a:solidFill>
          <a:ln/>
        </p:spPr>
      </p:sp>
      <p:sp>
        <p:nvSpPr>
          <p:cNvPr id="13" name="Shape 11"/>
          <p:cNvSpPr/>
          <p:nvPr/>
        </p:nvSpPr>
        <p:spPr>
          <a:xfrm>
            <a:off x="8619014" y="1422400"/>
            <a:ext cx="1126093" cy="762000"/>
          </a:xfrm>
          <a:custGeom>
            <a:avLst/>
            <a:gdLst/>
            <a:ahLst/>
            <a:cxnLst/>
            <a:rect l="l" t="t" r="r" b="b"/>
            <a:pathLst>
              <a:path w="1126093" h="762000">
                <a:moveTo>
                  <a:pt x="0" y="76200"/>
                </a:moveTo>
                <a:lnTo>
                  <a:pt x="0" y="76200"/>
                </a:lnTo>
                <a:arcTo hR="76200" wR="76200" stAng="10800000" swAng="5400000"/>
                <a:lnTo>
                  <a:pt x="1049893" y="0"/>
                </a:lnTo>
                <a:arcTo hR="76200" wR="76200" stAng="16200000" swAng="5400000"/>
                <a:lnTo>
                  <a:pt x="1126093" y="76200"/>
                </a:lnTo>
                <a:arcTo hR="12700" wR="76200" stAng="0" swAng="-5400000"/>
                <a:lnTo>
                  <a:pt x="76200" y="63500"/>
                </a:lnTo>
                <a:arcTo hR="12700" wR="76200" stAng="16200000" swAng="-5400000"/>
                <a:close/>
              </a:path>
            </a:pathLst>
          </a:custGeom>
          <a:solidFill>
            <a:srgbClr val="2A5BD7"/>
          </a:solidFill>
          <a:ln/>
        </p:spPr>
      </p:sp>
      <p:sp>
        <p:nvSpPr>
          <p:cNvPr id="14" name="Shape 12"/>
          <p:cNvSpPr/>
          <p:nvPr/>
        </p:nvSpPr>
        <p:spPr>
          <a:xfrm>
            <a:off x="8619014" y="2286000"/>
            <a:ext cx="1126093" cy="533400"/>
          </a:xfrm>
          <a:prstGeom prst="roundRect">
            <a:avLst>
              <a:gd name="adj" fmla="val 14286"/>
            </a:avLst>
          </a:prstGeom>
          <a:solidFill>
            <a:srgbClr val="F7F5EF"/>
          </a:solidFill>
          <a:ln/>
        </p:spPr>
      </p:sp>
      <p:sp>
        <p:nvSpPr>
          <p:cNvPr id="15" name="Shape 13"/>
          <p:cNvSpPr/>
          <p:nvPr/>
        </p:nvSpPr>
        <p:spPr>
          <a:xfrm>
            <a:off x="8619014" y="2286000"/>
            <a:ext cx="1126093" cy="533400"/>
          </a:xfrm>
          <a:custGeom>
            <a:avLst/>
            <a:gdLst/>
            <a:ahLst/>
            <a:cxnLst/>
            <a:rect l="l" t="t" r="r" b="b"/>
            <a:pathLst>
              <a:path w="1126093" h="533400">
                <a:moveTo>
                  <a:pt x="0" y="76200"/>
                </a:moveTo>
                <a:lnTo>
                  <a:pt x="0" y="76200"/>
                </a:lnTo>
                <a:arcTo hR="76200" wR="76200" stAng="10800000" swAng="5400000"/>
                <a:lnTo>
                  <a:pt x="1049893" y="0"/>
                </a:lnTo>
                <a:arcTo hR="76200" wR="76200" stAng="16200000" swAng="5400000"/>
                <a:lnTo>
                  <a:pt x="1126093" y="76200"/>
                </a:lnTo>
                <a:arcTo hR="12700" wR="76200" stAng="0" swAng="-5400000"/>
                <a:lnTo>
                  <a:pt x="76200" y="63500"/>
                </a:lnTo>
                <a:arcTo hR="12700" wR="76200" stAng="16200000" swAng="-5400000"/>
                <a:close/>
              </a:path>
            </a:pathLst>
          </a:custGeom>
          <a:solidFill>
            <a:srgbClr val="F2A33A"/>
          </a:solidFill>
          <a:ln/>
        </p:spPr>
      </p:sp>
      <p:sp>
        <p:nvSpPr>
          <p:cNvPr id="16" name="Shape 14"/>
          <p:cNvSpPr/>
          <p:nvPr/>
        </p:nvSpPr>
        <p:spPr>
          <a:xfrm>
            <a:off x="9999107" y="1117600"/>
            <a:ext cx="1380093" cy="4064000"/>
          </a:xfrm>
          <a:prstGeom prst="roundRect">
            <a:avLst>
              <a:gd name="adj" fmla="val 9202"/>
            </a:avLst>
          </a:prstGeom>
          <a:solidFill>
            <a:srgbClr val="1E3158"/>
          </a:solidFill>
          <a:ln/>
        </p:spPr>
      </p:sp>
      <p:sp>
        <p:nvSpPr>
          <p:cNvPr id="17" name="Shape 15"/>
          <p:cNvSpPr/>
          <p:nvPr/>
        </p:nvSpPr>
        <p:spPr>
          <a:xfrm>
            <a:off x="10126107" y="1244600"/>
            <a:ext cx="444500" cy="76200"/>
          </a:xfrm>
          <a:prstGeom prst="roundRect">
            <a:avLst>
              <a:gd name="adj" fmla="val 50000"/>
            </a:avLst>
          </a:prstGeom>
          <a:solidFill>
            <a:srgbClr val="5B6D96"/>
          </a:solidFill>
          <a:ln/>
        </p:spPr>
      </p:sp>
      <p:sp>
        <p:nvSpPr>
          <p:cNvPr id="18" name="Shape 16"/>
          <p:cNvSpPr/>
          <p:nvPr/>
        </p:nvSpPr>
        <p:spPr>
          <a:xfrm>
            <a:off x="10126107" y="1422400"/>
            <a:ext cx="1126093" cy="533400"/>
          </a:xfrm>
          <a:prstGeom prst="roundRect">
            <a:avLst>
              <a:gd name="adj" fmla="val 14286"/>
            </a:avLst>
          </a:prstGeom>
          <a:solidFill>
            <a:srgbClr val="F7F5EF"/>
          </a:solidFill>
          <a:ln/>
        </p:spPr>
      </p:sp>
      <p:sp>
        <p:nvSpPr>
          <p:cNvPr id="19" name="Shape 17"/>
          <p:cNvSpPr/>
          <p:nvPr/>
        </p:nvSpPr>
        <p:spPr>
          <a:xfrm>
            <a:off x="10126107" y="1422400"/>
            <a:ext cx="1126093" cy="533400"/>
          </a:xfrm>
          <a:custGeom>
            <a:avLst/>
            <a:gdLst/>
            <a:ahLst/>
            <a:cxnLst/>
            <a:rect l="l" t="t" r="r" b="b"/>
            <a:pathLst>
              <a:path w="1126093" h="533400">
                <a:moveTo>
                  <a:pt x="0" y="76200"/>
                </a:moveTo>
                <a:lnTo>
                  <a:pt x="0" y="76200"/>
                </a:lnTo>
                <a:arcTo hR="76200" wR="76200" stAng="10800000" swAng="5400000"/>
                <a:lnTo>
                  <a:pt x="1049893" y="0"/>
                </a:lnTo>
                <a:arcTo hR="76200" wR="76200" stAng="16200000" swAng="5400000"/>
                <a:lnTo>
                  <a:pt x="1126093" y="76200"/>
                </a:lnTo>
                <a:arcTo hR="12700" wR="76200" stAng="0" swAng="-5400000"/>
                <a:lnTo>
                  <a:pt x="76200" y="63500"/>
                </a:lnTo>
                <a:arcTo hR="12700" wR="76200" stAng="16200000" swAng="-5400000"/>
                <a:close/>
              </a:path>
            </a:pathLst>
          </a:custGeom>
          <a:solidFill>
            <a:srgbClr val="3FB68B"/>
          </a:solidFill>
          <a:ln/>
        </p:spPr>
      </p:sp>
      <p:sp>
        <p:nvSpPr>
          <p:cNvPr id="20" name="Shape 18"/>
          <p:cNvSpPr/>
          <p:nvPr/>
        </p:nvSpPr>
        <p:spPr>
          <a:xfrm>
            <a:off x="10126107" y="2057400"/>
            <a:ext cx="1126093" cy="609600"/>
          </a:xfrm>
          <a:prstGeom prst="roundRect">
            <a:avLst>
              <a:gd name="adj" fmla="val 12500"/>
            </a:avLst>
          </a:prstGeom>
          <a:solidFill>
            <a:srgbClr val="F7F5EF"/>
          </a:solidFill>
          <a:ln/>
        </p:spPr>
      </p:sp>
      <p:sp>
        <p:nvSpPr>
          <p:cNvPr id="21" name="Shape 19"/>
          <p:cNvSpPr/>
          <p:nvPr/>
        </p:nvSpPr>
        <p:spPr>
          <a:xfrm>
            <a:off x="10126107" y="2057400"/>
            <a:ext cx="1126093" cy="609600"/>
          </a:xfrm>
          <a:custGeom>
            <a:avLst/>
            <a:gdLst/>
            <a:ahLst/>
            <a:cxnLst/>
            <a:rect l="l" t="t" r="r" b="b"/>
            <a:pathLst>
              <a:path w="1126093" h="609600">
                <a:moveTo>
                  <a:pt x="0" y="76200"/>
                </a:moveTo>
                <a:lnTo>
                  <a:pt x="0" y="76200"/>
                </a:lnTo>
                <a:arcTo hR="76200" wR="76200" stAng="10800000" swAng="5400000"/>
                <a:lnTo>
                  <a:pt x="1049893" y="0"/>
                </a:lnTo>
                <a:arcTo hR="76200" wR="76200" stAng="16200000" swAng="5400000"/>
                <a:lnTo>
                  <a:pt x="1126093" y="76200"/>
                </a:lnTo>
                <a:arcTo hR="12700" wR="76200" stAng="0" swAng="-5400000"/>
                <a:lnTo>
                  <a:pt x="76200" y="63500"/>
                </a:lnTo>
                <a:arcTo hR="12700" wR="76200" stAng="16200000" swAng="-5400000"/>
                <a:close/>
              </a:path>
            </a:pathLst>
          </a:custGeom>
          <a:solidFill>
            <a:srgbClr val="2A5BD7"/>
          </a:solidFill>
          <a:ln/>
        </p:spPr>
      </p:sp>
      <p:sp>
        <p:nvSpPr>
          <p:cNvPr id="22" name="Shape 20"/>
          <p:cNvSpPr/>
          <p:nvPr/>
        </p:nvSpPr>
        <p:spPr>
          <a:xfrm>
            <a:off x="10126107" y="2768600"/>
            <a:ext cx="1126093" cy="457200"/>
          </a:xfrm>
          <a:prstGeom prst="roundRect">
            <a:avLst>
              <a:gd name="adj" fmla="val 16667"/>
            </a:avLst>
          </a:prstGeom>
          <a:solidFill>
            <a:srgbClr val="F7F5EF"/>
          </a:solidFill>
          <a:ln/>
        </p:spPr>
      </p:sp>
      <p:sp>
        <p:nvSpPr>
          <p:cNvPr id="23" name="Shape 21"/>
          <p:cNvSpPr/>
          <p:nvPr/>
        </p:nvSpPr>
        <p:spPr>
          <a:xfrm>
            <a:off x="10126107" y="2768600"/>
            <a:ext cx="1126093" cy="457200"/>
          </a:xfrm>
          <a:custGeom>
            <a:avLst/>
            <a:gdLst/>
            <a:ahLst/>
            <a:cxnLst/>
            <a:rect l="l" t="t" r="r" b="b"/>
            <a:pathLst>
              <a:path w="1126093" h="457200">
                <a:moveTo>
                  <a:pt x="0" y="76200"/>
                </a:moveTo>
                <a:lnTo>
                  <a:pt x="0" y="76200"/>
                </a:lnTo>
                <a:arcTo hR="76200" wR="76200" stAng="10800000" swAng="5400000"/>
                <a:lnTo>
                  <a:pt x="1049893" y="0"/>
                </a:lnTo>
                <a:arcTo hR="76200" wR="76200" stAng="16200000" swAng="5400000"/>
                <a:lnTo>
                  <a:pt x="1126093" y="76200"/>
                </a:lnTo>
                <a:arcTo hR="12700" wR="76200" stAng="0" swAng="-5400000"/>
                <a:lnTo>
                  <a:pt x="76200" y="63500"/>
                </a:lnTo>
                <a:arcTo hR="12700" wR="76200" stAng="16200000" swAng="-5400000"/>
                <a:close/>
              </a:path>
            </a:pathLst>
          </a:custGeom>
          <a:solidFill>
            <a:srgbClr val="F2A33A"/>
          </a:solidFill>
          <a:ln/>
        </p:spPr>
      </p:sp>
      <p:sp>
        <p:nvSpPr>
          <p:cNvPr id="24" name="Text 22"/>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A33A"/>
                </a:solidFill>
                <a:latin typeface="Arial" pitchFamily="34" charset="0"/>
                <a:ea typeface="Arial" pitchFamily="34" charset="-122"/>
                <a:cs typeface="Arial" pitchFamily="34" charset="-120"/>
              </a:rPr>
              <a:t>PROJET DE GROUPE · [NOM DE LA MATIÈRE]</a:t>
            </a:r>
            <a:endParaRPr lang="en-US" sz="1400" dirty="0"/>
          </a:p>
        </p:txBody>
      </p:sp>
      <p:sp>
        <p:nvSpPr>
          <p:cNvPr id="25" name="Text 23"/>
          <p:cNvSpPr/>
          <p:nvPr>
            <p:ph type="title"/>
          </p:nvPr>
        </p:nvSpPr>
        <p:spPr>
          <a:xfrm>
            <a:off x="812800" y="2473960"/>
            <a:ext cx="5886450" cy="98552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7F5EF"/>
                </a:solidFill>
                <a:latin typeface="Arial" pitchFamily="34" charset="0"/>
                <a:ea typeface="Arial" pitchFamily="34" charset="-122"/>
                <a:cs typeface="Arial" pitchFamily="34" charset="-120"/>
              </a:rPr>
              <a:t>StudyFlow</a:t>
            </a:r>
            <a:endParaRPr lang="en-US" sz="7200" dirty="0"/>
          </a:p>
        </p:txBody>
      </p:sp>
      <p:sp>
        <p:nvSpPr>
          <p:cNvPr id="26" name="Text 24"/>
          <p:cNvSpPr/>
          <p:nvPr/>
        </p:nvSpPr>
        <p:spPr>
          <a:xfrm>
            <a:off x="812800" y="3611880"/>
            <a:ext cx="5886450"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FC8DC"/>
                </a:solidFill>
                <a:latin typeface="Arial" pitchFamily="34" charset="0"/>
                <a:ea typeface="Arial" pitchFamily="34" charset="-122"/>
                <a:cs typeface="Arial" pitchFamily="34" charset="-120"/>
              </a:rPr>
              <a:t>Gérer un projet d'équipe étudiante dans un seul outil</a:t>
            </a:r>
            <a:endParaRPr lang="en-US" sz="2200" dirty="0"/>
          </a:p>
        </p:txBody>
      </p:sp>
      <p:sp>
        <p:nvSpPr>
          <p:cNvPr id="27" name="Text 25"/>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AA5BF"/>
                </a:solidFill>
                <a:latin typeface="Arial" pitchFamily="34" charset="0"/>
                <a:ea typeface="Arial" pitchFamily="34" charset="-122"/>
                <a:cs typeface="Arial" pitchFamily="34" charset="-120"/>
              </a:rPr>
              <a:t>Équipe de 7 développeurs · 7 modules · [Année universitaire]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SOMMAIRE</a:t>
            </a:r>
            <a:endParaRPr lang="en-US" sz="1400" dirty="0"/>
          </a:p>
        </p:txBody>
      </p:sp>
      <p:sp>
        <p:nvSpPr>
          <p:cNvPr id="3" name="Text 1"/>
          <p:cNvSpPr/>
          <p:nvPr>
            <p:ph type="title"/>
          </p:nvPr>
        </p:nvSpPr>
        <p:spPr>
          <a:xfrm>
            <a:off x="812800" y="113792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Au programme</a:t>
            </a:r>
            <a:endParaRPr lang="en-US" sz="3400" dirty="0"/>
          </a:p>
        </p:txBody>
      </p:sp>
      <p:sp>
        <p:nvSpPr>
          <p:cNvPr id="4" name="Shape 2"/>
          <p:cNvSpPr/>
          <p:nvPr/>
        </p:nvSpPr>
        <p:spPr>
          <a:xfrm>
            <a:off x="812800" y="2646045"/>
            <a:ext cx="10566400" cy="0"/>
          </a:xfrm>
          <a:prstGeom prst="line">
            <a:avLst/>
          </a:prstGeom>
          <a:noFill/>
          <a:ln w="6350">
            <a:solidFill>
              <a:srgbClr val="CFC9B8"/>
            </a:solidFill>
            <a:prstDash val="solid"/>
          </a:ln>
        </p:spPr>
      </p:sp>
      <p:sp>
        <p:nvSpPr>
          <p:cNvPr id="5" name="Text 3"/>
          <p:cNvSpPr/>
          <p:nvPr/>
        </p:nvSpPr>
        <p:spPr>
          <a:xfrm>
            <a:off x="812800" y="2006600"/>
            <a:ext cx="660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5BD7"/>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625600" y="2059940"/>
            <a:ext cx="41859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Arial" pitchFamily="34" charset="0"/>
                <a:ea typeface="Arial" pitchFamily="34" charset="-122"/>
                <a:cs typeface="Arial" pitchFamily="34" charset="-120"/>
              </a:rPr>
              <a:t>Contexte et vision</a:t>
            </a:r>
            <a:endParaRPr lang="en-US" sz="2200" dirty="0"/>
          </a:p>
        </p:txBody>
      </p:sp>
      <p:sp>
        <p:nvSpPr>
          <p:cNvPr id="7" name="Text 5"/>
          <p:cNvSpPr/>
          <p:nvPr/>
        </p:nvSpPr>
        <p:spPr>
          <a:xfrm>
            <a:off x="5892800" y="2122170"/>
            <a:ext cx="53632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Le problème, notre réponse, les utilisateurs</a:t>
            </a:r>
            <a:endParaRPr lang="en-US" sz="1500" dirty="0"/>
          </a:p>
        </p:txBody>
      </p:sp>
      <p:sp>
        <p:nvSpPr>
          <p:cNvPr id="8" name="Shape 6"/>
          <p:cNvSpPr/>
          <p:nvPr/>
        </p:nvSpPr>
        <p:spPr>
          <a:xfrm>
            <a:off x="812800" y="3428365"/>
            <a:ext cx="10566400" cy="0"/>
          </a:xfrm>
          <a:prstGeom prst="line">
            <a:avLst/>
          </a:prstGeom>
          <a:noFill/>
          <a:ln w="6350">
            <a:solidFill>
              <a:srgbClr val="CFC9B8"/>
            </a:solidFill>
            <a:prstDash val="solid"/>
          </a:ln>
        </p:spPr>
      </p:sp>
      <p:sp>
        <p:nvSpPr>
          <p:cNvPr id="9" name="Text 7"/>
          <p:cNvSpPr/>
          <p:nvPr/>
        </p:nvSpPr>
        <p:spPr>
          <a:xfrm>
            <a:off x="812800" y="2788920"/>
            <a:ext cx="660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5BD7"/>
                </a:solidFill>
                <a:latin typeface="Arial" pitchFamily="34" charset="0"/>
                <a:ea typeface="Arial" pitchFamily="34" charset="-122"/>
                <a:cs typeface="Arial" pitchFamily="34" charset="-120"/>
              </a:rPr>
              <a:t>2</a:t>
            </a:r>
            <a:endParaRPr lang="en-US" sz="2800" dirty="0"/>
          </a:p>
        </p:txBody>
      </p:sp>
      <p:sp>
        <p:nvSpPr>
          <p:cNvPr id="10" name="Text 8"/>
          <p:cNvSpPr/>
          <p:nvPr/>
        </p:nvSpPr>
        <p:spPr>
          <a:xfrm>
            <a:off x="1625600" y="2842260"/>
            <a:ext cx="41859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Arial" pitchFamily="34" charset="0"/>
                <a:ea typeface="Arial" pitchFamily="34" charset="-122"/>
                <a:cs typeface="Arial" pitchFamily="34" charset="-120"/>
              </a:rPr>
              <a:t>Les sept modules</a:t>
            </a:r>
            <a:endParaRPr lang="en-US" sz="2200" dirty="0"/>
          </a:p>
        </p:txBody>
      </p:sp>
      <p:sp>
        <p:nvSpPr>
          <p:cNvPr id="11" name="Text 9"/>
          <p:cNvSpPr/>
          <p:nvPr/>
        </p:nvSpPr>
        <p:spPr>
          <a:xfrm>
            <a:off x="5892800" y="2904490"/>
            <a:ext cx="53632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Ce que fait chaque module et qui le développe</a:t>
            </a:r>
            <a:endParaRPr lang="en-US" sz="1500" dirty="0"/>
          </a:p>
        </p:txBody>
      </p:sp>
      <p:sp>
        <p:nvSpPr>
          <p:cNvPr id="12" name="Shape 10"/>
          <p:cNvSpPr/>
          <p:nvPr/>
        </p:nvSpPr>
        <p:spPr>
          <a:xfrm>
            <a:off x="812800" y="4210685"/>
            <a:ext cx="10566400" cy="0"/>
          </a:xfrm>
          <a:prstGeom prst="line">
            <a:avLst/>
          </a:prstGeom>
          <a:noFill/>
          <a:ln w="6350">
            <a:solidFill>
              <a:srgbClr val="CFC9B8"/>
            </a:solidFill>
            <a:prstDash val="solid"/>
          </a:ln>
        </p:spPr>
      </p:sp>
      <p:sp>
        <p:nvSpPr>
          <p:cNvPr id="13" name="Text 11"/>
          <p:cNvSpPr/>
          <p:nvPr/>
        </p:nvSpPr>
        <p:spPr>
          <a:xfrm>
            <a:off x="812800" y="3571240"/>
            <a:ext cx="660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5BD7"/>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1625600" y="3624580"/>
            <a:ext cx="41859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Arial" pitchFamily="34" charset="0"/>
                <a:ea typeface="Arial" pitchFamily="34" charset="-122"/>
                <a:cs typeface="Arial" pitchFamily="34" charset="-120"/>
              </a:rPr>
              <a:t>Technique et architecture</a:t>
            </a:r>
            <a:endParaRPr lang="en-US" sz="2200" dirty="0"/>
          </a:p>
        </p:txBody>
      </p:sp>
      <p:sp>
        <p:nvSpPr>
          <p:cNvPr id="15" name="Text 13"/>
          <p:cNvSpPr/>
          <p:nvPr/>
        </p:nvSpPr>
        <p:spPr>
          <a:xfrm>
            <a:off x="5892800" y="3686810"/>
            <a:ext cx="53632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La stack, les règles communes, les données</a:t>
            </a:r>
            <a:endParaRPr lang="en-US" sz="1500" dirty="0"/>
          </a:p>
        </p:txBody>
      </p:sp>
      <p:sp>
        <p:nvSpPr>
          <p:cNvPr id="16" name="Shape 14"/>
          <p:cNvSpPr/>
          <p:nvPr/>
        </p:nvSpPr>
        <p:spPr>
          <a:xfrm>
            <a:off x="812800" y="4993005"/>
            <a:ext cx="10566400" cy="0"/>
          </a:xfrm>
          <a:prstGeom prst="line">
            <a:avLst/>
          </a:prstGeom>
          <a:noFill/>
          <a:ln w="6350">
            <a:solidFill>
              <a:srgbClr val="CFC9B8"/>
            </a:solidFill>
            <a:prstDash val="solid"/>
          </a:ln>
        </p:spPr>
      </p:sp>
      <p:sp>
        <p:nvSpPr>
          <p:cNvPr id="17" name="Text 15"/>
          <p:cNvSpPr/>
          <p:nvPr/>
        </p:nvSpPr>
        <p:spPr>
          <a:xfrm>
            <a:off x="812800" y="4353560"/>
            <a:ext cx="660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5BD7"/>
                </a:solidFill>
                <a:latin typeface="Arial" pitchFamily="34" charset="0"/>
                <a:ea typeface="Arial" pitchFamily="34" charset="-122"/>
                <a:cs typeface="Arial" pitchFamily="34" charset="-120"/>
              </a:rPr>
              <a:t>4</a:t>
            </a:r>
            <a:endParaRPr lang="en-US" sz="2800" dirty="0"/>
          </a:p>
        </p:txBody>
      </p:sp>
      <p:sp>
        <p:nvSpPr>
          <p:cNvPr id="18" name="Text 16"/>
          <p:cNvSpPr/>
          <p:nvPr/>
        </p:nvSpPr>
        <p:spPr>
          <a:xfrm>
            <a:off x="1625600" y="4406900"/>
            <a:ext cx="41859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Arial" pitchFamily="34" charset="0"/>
                <a:ea typeface="Arial" pitchFamily="34" charset="-122"/>
                <a:cs typeface="Arial" pitchFamily="34" charset="-120"/>
              </a:rPr>
              <a:t>Organisation</a:t>
            </a:r>
            <a:endParaRPr lang="en-US" sz="2200" dirty="0"/>
          </a:p>
        </p:txBody>
      </p:sp>
      <p:sp>
        <p:nvSpPr>
          <p:cNvPr id="19" name="Text 17"/>
          <p:cNvSpPr/>
          <p:nvPr/>
        </p:nvSpPr>
        <p:spPr>
          <a:xfrm>
            <a:off x="5892800" y="4469130"/>
            <a:ext cx="53632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L'équipe, la méthode, le planning et les risques</a:t>
            </a:r>
            <a:endParaRPr lang="en-US" sz="1500" dirty="0"/>
          </a:p>
        </p:txBody>
      </p:sp>
      <p:sp>
        <p:nvSpPr>
          <p:cNvPr id="20" name="Text 18"/>
          <p:cNvSpPr/>
          <p:nvPr/>
        </p:nvSpPr>
        <p:spPr>
          <a:xfrm>
            <a:off x="812800" y="5135880"/>
            <a:ext cx="6604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5BD7"/>
                </a:solidFill>
                <a:latin typeface="Arial" pitchFamily="34" charset="0"/>
                <a:ea typeface="Arial" pitchFamily="34" charset="-122"/>
                <a:cs typeface="Arial" pitchFamily="34" charset="-120"/>
              </a:rPr>
              <a:t>5</a:t>
            </a:r>
            <a:endParaRPr lang="en-US" sz="2800" dirty="0"/>
          </a:p>
        </p:txBody>
      </p:sp>
      <p:sp>
        <p:nvSpPr>
          <p:cNvPr id="21" name="Text 19"/>
          <p:cNvSpPr/>
          <p:nvPr/>
        </p:nvSpPr>
        <p:spPr>
          <a:xfrm>
            <a:off x="1625600" y="5189220"/>
            <a:ext cx="41859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Arial" pitchFamily="34" charset="0"/>
                <a:ea typeface="Arial" pitchFamily="34" charset="-122"/>
                <a:cs typeface="Arial" pitchFamily="34" charset="-120"/>
              </a:rPr>
              <a:t>Démonstration et livrables</a:t>
            </a:r>
            <a:endParaRPr lang="en-US" sz="2200" dirty="0"/>
          </a:p>
        </p:txBody>
      </p:sp>
      <p:sp>
        <p:nvSpPr>
          <p:cNvPr id="22" name="Text 20"/>
          <p:cNvSpPr/>
          <p:nvPr/>
        </p:nvSpPr>
        <p:spPr>
          <a:xfrm>
            <a:off x="5892800" y="5251450"/>
            <a:ext cx="53632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Le scénario en local et ce que nous rendons</a:t>
            </a:r>
            <a:endParaRPr lang="en-US" sz="1500" dirty="0"/>
          </a:p>
        </p:txBody>
      </p:sp>
      <p:sp>
        <p:nvSpPr>
          <p:cNvPr id="23" name="Text 21"/>
          <p:cNvSpPr/>
          <p:nvPr/>
        </p:nvSpPr>
        <p:spPr>
          <a:xfrm>
            <a:off x="812800" y="6238241"/>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LE CONSTAT</a:t>
            </a:r>
            <a:endParaRPr lang="en-US" sz="1400" dirty="0"/>
          </a:p>
        </p:txBody>
      </p:sp>
      <p:sp>
        <p:nvSpPr>
          <p:cNvPr id="3" name="Text 1"/>
          <p:cNvSpPr/>
          <p:nvPr>
            <p:ph type="title"/>
          </p:nvPr>
        </p:nvSpPr>
        <p:spPr>
          <a:xfrm>
            <a:off x="812800" y="113792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Le travail de groupe est éparpillé</a:t>
            </a:r>
            <a:endParaRPr lang="en-US" sz="3400" dirty="0"/>
          </a:p>
        </p:txBody>
      </p:sp>
      <p:sp>
        <p:nvSpPr>
          <p:cNvPr id="4" name="Shape 2"/>
          <p:cNvSpPr/>
          <p:nvPr/>
        </p:nvSpPr>
        <p:spPr>
          <a:xfrm>
            <a:off x="815975" y="1870075"/>
            <a:ext cx="2520950" cy="2086610"/>
          </a:xfrm>
          <a:prstGeom prst="roundRect">
            <a:avLst>
              <a:gd name="adj" fmla="val 5934"/>
            </a:avLst>
          </a:prstGeom>
          <a:solidFill>
            <a:srgbClr val="FDFCF8"/>
          </a:solidFill>
          <a:ln w="6350">
            <a:solidFill>
              <a:srgbClr val="D9D4C5"/>
            </a:solidFill>
            <a:prstDash val="solid"/>
          </a:ln>
        </p:spPr>
      </p:sp>
      <p:pic>
        <p:nvPicPr>
          <p:cNvPr id="5" name="Image 0" descr="Chat">    </p:cNvPr>
          <p:cNvPicPr>
            <a:picLocks noChangeAspect="1"/>
          </p:cNvPicPr>
          <p:nvPr/>
        </p:nvPicPr>
        <p:blipFill>
          <a:blip r:embed="rId1"/>
          <a:srcRect l="0" r="0" t="0" b="0"/>
          <a:stretch/>
        </p:blipFill>
        <p:spPr>
          <a:xfrm>
            <a:off x="1046480" y="2100580"/>
            <a:ext cx="406400" cy="406400"/>
          </a:xfrm>
          <a:prstGeom prst="rect">
            <a:avLst/>
          </a:prstGeom>
        </p:spPr>
      </p:pic>
      <p:sp>
        <p:nvSpPr>
          <p:cNvPr id="6" name="Text 3"/>
          <p:cNvSpPr/>
          <p:nvPr/>
        </p:nvSpPr>
        <p:spPr>
          <a:xfrm>
            <a:off x="1046480" y="2608580"/>
            <a:ext cx="2121738"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Un groupe de messagerie</a:t>
            </a:r>
            <a:endParaRPr lang="en-US" sz="1700" dirty="0"/>
          </a:p>
        </p:txBody>
      </p:sp>
      <p:sp>
        <p:nvSpPr>
          <p:cNvPr id="7" name="Text 4"/>
          <p:cNvSpPr/>
          <p:nvPr/>
        </p:nvSpPr>
        <p:spPr>
          <a:xfrm>
            <a:off x="1046480" y="3228341"/>
            <a:ext cx="2121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Les décisions se noient dans le flux de messages</a:t>
            </a:r>
            <a:endParaRPr lang="en-US" sz="1400" dirty="0"/>
          </a:p>
        </p:txBody>
      </p:sp>
      <p:sp>
        <p:nvSpPr>
          <p:cNvPr id="8" name="Shape 5"/>
          <p:cNvSpPr/>
          <p:nvPr/>
        </p:nvSpPr>
        <p:spPr>
          <a:xfrm>
            <a:off x="3495675" y="1870075"/>
            <a:ext cx="2520950" cy="2086610"/>
          </a:xfrm>
          <a:prstGeom prst="roundRect">
            <a:avLst>
              <a:gd name="adj" fmla="val 5934"/>
            </a:avLst>
          </a:prstGeom>
          <a:solidFill>
            <a:srgbClr val="FDFCF8"/>
          </a:solidFill>
          <a:ln w="6350">
            <a:solidFill>
              <a:srgbClr val="D9D4C5"/>
            </a:solidFill>
            <a:prstDash val="solid"/>
          </a:ln>
        </p:spPr>
      </p:sp>
      <p:pic>
        <p:nvPicPr>
          <p:cNvPr id="9" name="Image 1" descr="Cloud">    </p:cNvPr>
          <p:cNvPicPr>
            <a:picLocks noChangeAspect="1"/>
          </p:cNvPicPr>
          <p:nvPr/>
        </p:nvPicPr>
        <p:blipFill>
          <a:blip r:embed="rId2"/>
          <a:srcRect l="0" r="0" t="0" b="0"/>
          <a:stretch/>
        </p:blipFill>
        <p:spPr>
          <a:xfrm>
            <a:off x="3726180" y="2100580"/>
            <a:ext cx="406400" cy="406400"/>
          </a:xfrm>
          <a:prstGeom prst="rect">
            <a:avLst/>
          </a:prstGeom>
        </p:spPr>
      </p:pic>
      <p:sp>
        <p:nvSpPr>
          <p:cNvPr id="10" name="Text 6"/>
          <p:cNvSpPr/>
          <p:nvPr/>
        </p:nvSpPr>
        <p:spPr>
          <a:xfrm>
            <a:off x="3726180" y="2608580"/>
            <a:ext cx="2121738"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Un espace de stockage</a:t>
            </a:r>
            <a:endParaRPr lang="en-US" sz="1700" dirty="0"/>
          </a:p>
        </p:txBody>
      </p:sp>
      <p:sp>
        <p:nvSpPr>
          <p:cNvPr id="11" name="Text 7"/>
          <p:cNvSpPr/>
          <p:nvPr/>
        </p:nvSpPr>
        <p:spPr>
          <a:xfrm>
            <a:off x="3726180" y="3228341"/>
            <a:ext cx="2121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Personne ne sait quelle est la dernière version</a:t>
            </a:r>
            <a:endParaRPr lang="en-US" sz="1400" dirty="0"/>
          </a:p>
        </p:txBody>
      </p:sp>
      <p:sp>
        <p:nvSpPr>
          <p:cNvPr id="12" name="Shape 8"/>
          <p:cNvSpPr/>
          <p:nvPr/>
        </p:nvSpPr>
        <p:spPr>
          <a:xfrm>
            <a:off x="6175375" y="1870075"/>
            <a:ext cx="2520950" cy="2086610"/>
          </a:xfrm>
          <a:prstGeom prst="roundRect">
            <a:avLst>
              <a:gd name="adj" fmla="val 5934"/>
            </a:avLst>
          </a:prstGeom>
          <a:solidFill>
            <a:srgbClr val="FDFCF8"/>
          </a:solidFill>
          <a:ln w="6350">
            <a:solidFill>
              <a:srgbClr val="D9D4C5"/>
            </a:solidFill>
            <a:prstDash val="solid"/>
          </a:ln>
        </p:spPr>
      </p:sp>
      <p:pic>
        <p:nvPicPr>
          <p:cNvPr id="13" name="Image 2" descr="Check">    </p:cNvPr>
          <p:cNvPicPr>
            <a:picLocks noChangeAspect="1"/>
          </p:cNvPicPr>
          <p:nvPr/>
        </p:nvPicPr>
        <p:blipFill>
          <a:blip r:embed="rId3"/>
          <a:srcRect l="0" r="0" t="0" b="0"/>
          <a:stretch/>
        </p:blipFill>
        <p:spPr>
          <a:xfrm>
            <a:off x="6405880" y="2100580"/>
            <a:ext cx="406400" cy="406400"/>
          </a:xfrm>
          <a:prstGeom prst="rect">
            <a:avLst/>
          </a:prstGeom>
        </p:spPr>
      </p:pic>
      <p:sp>
        <p:nvSpPr>
          <p:cNvPr id="14" name="Text 9"/>
          <p:cNvSpPr/>
          <p:nvPr/>
        </p:nvSpPr>
        <p:spPr>
          <a:xfrm>
            <a:off x="6405880" y="2608580"/>
            <a:ext cx="2121738"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Un tableur ou des notes</a:t>
            </a:r>
            <a:endParaRPr lang="en-US" sz="1700" dirty="0"/>
          </a:p>
        </p:txBody>
      </p:sp>
      <p:sp>
        <p:nvSpPr>
          <p:cNvPr id="15" name="Text 10"/>
          <p:cNvSpPr/>
          <p:nvPr/>
        </p:nvSpPr>
        <p:spPr>
          <a:xfrm>
            <a:off x="6405880" y="3228341"/>
            <a:ext cx="2121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Qui fait quoi ? Personne ne le sait vraiment</a:t>
            </a:r>
            <a:endParaRPr lang="en-US" sz="1400" dirty="0"/>
          </a:p>
        </p:txBody>
      </p:sp>
      <p:sp>
        <p:nvSpPr>
          <p:cNvPr id="16" name="Shape 11"/>
          <p:cNvSpPr/>
          <p:nvPr/>
        </p:nvSpPr>
        <p:spPr>
          <a:xfrm>
            <a:off x="8855075" y="1870075"/>
            <a:ext cx="2520950" cy="2086610"/>
          </a:xfrm>
          <a:prstGeom prst="roundRect">
            <a:avLst>
              <a:gd name="adj" fmla="val 5934"/>
            </a:avLst>
          </a:prstGeom>
          <a:solidFill>
            <a:srgbClr val="FDFCF8"/>
          </a:solidFill>
          <a:ln w="6350">
            <a:solidFill>
              <a:srgbClr val="D9D4C5"/>
            </a:solidFill>
            <a:prstDash val="solid"/>
          </a:ln>
        </p:spPr>
      </p:sp>
      <p:pic>
        <p:nvPicPr>
          <p:cNvPr id="17" name="Image 3" descr="Clock">    </p:cNvPr>
          <p:cNvPicPr>
            <a:picLocks noChangeAspect="1"/>
          </p:cNvPicPr>
          <p:nvPr/>
        </p:nvPicPr>
        <p:blipFill>
          <a:blip r:embed="rId4"/>
          <a:srcRect l="0" r="0" t="0" b="0"/>
          <a:stretch/>
        </p:blipFill>
        <p:spPr>
          <a:xfrm>
            <a:off x="9085580" y="2100580"/>
            <a:ext cx="406400" cy="406400"/>
          </a:xfrm>
          <a:prstGeom prst="rect">
            <a:avLst/>
          </a:prstGeom>
        </p:spPr>
      </p:pic>
      <p:sp>
        <p:nvSpPr>
          <p:cNvPr id="18" name="Text 12"/>
          <p:cNvSpPr/>
          <p:nvPr/>
        </p:nvSpPr>
        <p:spPr>
          <a:xfrm>
            <a:off x="9085580" y="2608580"/>
            <a:ext cx="2121738"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Un calendrier personnel</a:t>
            </a:r>
            <a:endParaRPr lang="en-US" sz="1700" dirty="0"/>
          </a:p>
        </p:txBody>
      </p:sp>
      <p:sp>
        <p:nvSpPr>
          <p:cNvPr id="19" name="Text 13"/>
          <p:cNvSpPr/>
          <p:nvPr/>
        </p:nvSpPr>
        <p:spPr>
          <a:xfrm>
            <a:off x="9085580" y="3228341"/>
            <a:ext cx="2121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Les échéances ne sont pas partagées</a:t>
            </a:r>
            <a:endParaRPr lang="en-US" sz="1400" dirty="0"/>
          </a:p>
        </p:txBody>
      </p:sp>
      <p:sp>
        <p:nvSpPr>
          <p:cNvPr id="20" name="Text 14"/>
          <p:cNvSpPr/>
          <p:nvPr/>
        </p:nvSpPr>
        <p:spPr>
          <a:xfrm>
            <a:off x="812800" y="4213861"/>
            <a:ext cx="10883392"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Arial" pitchFamily="34" charset="0"/>
                <a:ea typeface="Arial" pitchFamily="34" charset="-122"/>
                <a:cs typeface="Arial" pitchFamily="34" charset="-120"/>
              </a:rPr>
              <a:t>Résultat : des informations perdues, des responsabilités floues et aucune vue d'ensemble de l'avancement.</a:t>
            </a:r>
            <a:endParaRPr lang="en-US" sz="2000" dirty="0"/>
          </a:p>
        </p:txBody>
      </p:sp>
      <p:sp>
        <p:nvSpPr>
          <p:cNvPr id="21" name="Text 15"/>
          <p:cNvSpPr/>
          <p:nvPr/>
        </p:nvSpPr>
        <p:spPr>
          <a:xfrm>
            <a:off x="812800" y="6238241"/>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507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A33A"/>
                </a:solidFill>
                <a:latin typeface="Arial" pitchFamily="34" charset="0"/>
                <a:ea typeface="Arial" pitchFamily="34" charset="-122"/>
                <a:cs typeface="Arial" pitchFamily="34" charset="-120"/>
              </a:rPr>
              <a:t>NOTRE RÉPONSE</a:t>
            </a:r>
            <a:endParaRPr lang="en-US" sz="1400" dirty="0"/>
          </a:p>
        </p:txBody>
      </p:sp>
      <p:sp>
        <p:nvSpPr>
          <p:cNvPr id="3" name="Text 1"/>
          <p:cNvSpPr/>
          <p:nvPr>
            <p:ph type="title"/>
          </p:nvPr>
        </p:nvSpPr>
        <p:spPr>
          <a:xfrm>
            <a:off x="812800" y="2453641"/>
            <a:ext cx="9810750" cy="1310640"/>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7F5EF"/>
                </a:solidFill>
                <a:latin typeface="Arial" pitchFamily="34" charset="0"/>
                <a:ea typeface="Arial" pitchFamily="34" charset="-122"/>
                <a:cs typeface="Arial" pitchFamily="34" charset="-120"/>
              </a:rPr>
              <a:t>Un seul outil pour planifier, répartir, suivre et échanger.</a:t>
            </a:r>
            <a:endParaRPr lang="en-US" sz="4600" dirty="0"/>
          </a:p>
        </p:txBody>
      </p:sp>
      <p:sp>
        <p:nvSpPr>
          <p:cNvPr id="4" name="Text 2"/>
          <p:cNvSpPr/>
          <p:nvPr/>
        </p:nvSpPr>
        <p:spPr>
          <a:xfrm>
            <a:off x="812800" y="3992880"/>
            <a:ext cx="85026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C8DC"/>
                </a:solidFill>
                <a:latin typeface="Arial" pitchFamily="34" charset="0"/>
                <a:ea typeface="Arial" pitchFamily="34" charset="-122"/>
                <a:cs typeface="Arial" pitchFamily="34" charset="-120"/>
              </a:rPr>
              <a:t>StudyFlow est un mini-Trello pensé pour les équipes étudiantes : simple, gratuit et centré sur le projet de groupe.</a:t>
            </a:r>
            <a:endParaRPr lang="en-US" sz="2000" dirty="0"/>
          </a:p>
        </p:txBody>
      </p:sp>
      <p:sp>
        <p:nvSpPr>
          <p:cNvPr id="5" name="Text 3"/>
          <p:cNvSpPr/>
          <p:nvPr/>
        </p:nvSpPr>
        <p:spPr>
          <a:xfrm>
            <a:off x="812800" y="6238239"/>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5BF"/>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OBJECTIFS</a:t>
            </a:r>
            <a:endParaRPr lang="en-US" sz="1400" dirty="0"/>
          </a:p>
        </p:txBody>
      </p:sp>
      <p:sp>
        <p:nvSpPr>
          <p:cNvPr id="3" name="Text 1"/>
          <p:cNvSpPr/>
          <p:nvPr>
            <p:ph type="title"/>
          </p:nvPr>
        </p:nvSpPr>
        <p:spPr>
          <a:xfrm>
            <a:off x="812800" y="1137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Ce que nous visons</a:t>
            </a:r>
            <a:endParaRPr lang="en-US" sz="3400" dirty="0"/>
          </a:p>
        </p:txBody>
      </p:sp>
      <p:sp>
        <p:nvSpPr>
          <p:cNvPr id="4" name="Shape 2"/>
          <p:cNvSpPr/>
          <p:nvPr/>
        </p:nvSpPr>
        <p:spPr>
          <a:xfrm>
            <a:off x="825500" y="2962911"/>
            <a:ext cx="0" cy="1783080"/>
          </a:xfrm>
          <a:prstGeom prst="line">
            <a:avLst/>
          </a:prstGeom>
          <a:noFill/>
          <a:ln w="25400">
            <a:solidFill>
              <a:srgbClr val="2A5BD7"/>
            </a:solidFill>
            <a:prstDash val="solid"/>
          </a:ln>
        </p:spPr>
      </p:sp>
      <p:sp>
        <p:nvSpPr>
          <p:cNvPr id="5" name="Text 3"/>
          <p:cNvSpPr/>
          <p:nvPr/>
        </p:nvSpPr>
        <p:spPr>
          <a:xfrm>
            <a:off x="1041400" y="2962911"/>
            <a:ext cx="3026044"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2A5BD7"/>
                </a:solidFill>
                <a:latin typeface="Arial" pitchFamily="34" charset="0"/>
                <a:ea typeface="Arial" pitchFamily="34" charset="-122"/>
                <a:cs typeface="Arial" pitchFamily="34" charset="-120"/>
              </a:rPr>
              <a:t>7</a:t>
            </a:r>
            <a:endParaRPr lang="en-US" sz="6400" dirty="0"/>
          </a:p>
        </p:txBody>
      </p:sp>
      <p:sp>
        <p:nvSpPr>
          <p:cNvPr id="6" name="Text 4"/>
          <p:cNvSpPr/>
          <p:nvPr/>
        </p:nvSpPr>
        <p:spPr>
          <a:xfrm>
            <a:off x="1041400" y="3851911"/>
            <a:ext cx="3026044"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modules</a:t>
            </a:r>
            <a:endParaRPr lang="en-US" sz="1800" dirty="0"/>
          </a:p>
        </p:txBody>
      </p:sp>
      <p:sp>
        <p:nvSpPr>
          <p:cNvPr id="7" name="Text 5"/>
          <p:cNvSpPr/>
          <p:nvPr/>
        </p:nvSpPr>
        <p:spPr>
          <a:xfrm>
            <a:off x="1041400" y="4248150"/>
            <a:ext cx="302604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Intégrés dans une seule application, un par développeur</a:t>
            </a:r>
            <a:endParaRPr lang="en-US" sz="1400" dirty="0"/>
          </a:p>
        </p:txBody>
      </p:sp>
      <p:sp>
        <p:nvSpPr>
          <p:cNvPr id="8" name="Shape 6"/>
          <p:cNvSpPr/>
          <p:nvPr/>
        </p:nvSpPr>
        <p:spPr>
          <a:xfrm>
            <a:off x="4449207" y="2962911"/>
            <a:ext cx="0" cy="1783080"/>
          </a:xfrm>
          <a:prstGeom prst="line">
            <a:avLst/>
          </a:prstGeom>
          <a:noFill/>
          <a:ln w="25400">
            <a:solidFill>
              <a:srgbClr val="2A5BD7"/>
            </a:solidFill>
            <a:prstDash val="solid"/>
          </a:ln>
        </p:spPr>
      </p:sp>
      <p:sp>
        <p:nvSpPr>
          <p:cNvPr id="9" name="Text 7"/>
          <p:cNvSpPr/>
          <p:nvPr/>
        </p:nvSpPr>
        <p:spPr>
          <a:xfrm>
            <a:off x="4665107" y="2962911"/>
            <a:ext cx="3026126"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2A5BD7"/>
                </a:solidFill>
                <a:latin typeface="Arial" pitchFamily="34" charset="0"/>
                <a:ea typeface="Arial" pitchFamily="34" charset="-122"/>
                <a:cs typeface="Arial" pitchFamily="34" charset="-120"/>
              </a:rPr>
              <a:t>4</a:t>
            </a:r>
            <a:endParaRPr lang="en-US" sz="6400" dirty="0"/>
          </a:p>
        </p:txBody>
      </p:sp>
      <p:sp>
        <p:nvSpPr>
          <p:cNvPr id="10" name="Text 8"/>
          <p:cNvSpPr/>
          <p:nvPr/>
        </p:nvSpPr>
        <p:spPr>
          <a:xfrm>
            <a:off x="4665107" y="3851911"/>
            <a:ext cx="30261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rôles</a:t>
            </a:r>
            <a:endParaRPr lang="en-US" sz="1800" dirty="0"/>
          </a:p>
        </p:txBody>
      </p:sp>
      <p:sp>
        <p:nvSpPr>
          <p:cNvPr id="11" name="Text 9"/>
          <p:cNvSpPr/>
          <p:nvPr/>
        </p:nvSpPr>
        <p:spPr>
          <a:xfrm>
            <a:off x="4665107" y="4248150"/>
            <a:ext cx="30261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Propriétaire, administrateur, membre et observateur</a:t>
            </a:r>
            <a:endParaRPr lang="en-US" sz="1400" dirty="0"/>
          </a:p>
        </p:txBody>
      </p:sp>
      <p:sp>
        <p:nvSpPr>
          <p:cNvPr id="12" name="Shape 10"/>
          <p:cNvSpPr/>
          <p:nvPr/>
        </p:nvSpPr>
        <p:spPr>
          <a:xfrm>
            <a:off x="8072993" y="2962911"/>
            <a:ext cx="0" cy="1783080"/>
          </a:xfrm>
          <a:prstGeom prst="line">
            <a:avLst/>
          </a:prstGeom>
          <a:noFill/>
          <a:ln w="25400">
            <a:solidFill>
              <a:srgbClr val="2A5BD7"/>
            </a:solidFill>
            <a:prstDash val="solid"/>
          </a:ln>
        </p:spPr>
      </p:sp>
      <p:sp>
        <p:nvSpPr>
          <p:cNvPr id="13" name="Text 11"/>
          <p:cNvSpPr/>
          <p:nvPr/>
        </p:nvSpPr>
        <p:spPr>
          <a:xfrm>
            <a:off x="8288893" y="2962911"/>
            <a:ext cx="3026044"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2A5BD7"/>
                </a:solidFill>
                <a:latin typeface="Arial" pitchFamily="34" charset="0"/>
                <a:ea typeface="Arial" pitchFamily="34" charset="-122"/>
                <a:cs typeface="Arial" pitchFamily="34" charset="-120"/>
              </a:rPr>
              <a:t>10 min</a:t>
            </a:r>
            <a:endParaRPr lang="en-US" sz="6400" dirty="0"/>
          </a:p>
        </p:txBody>
      </p:sp>
      <p:sp>
        <p:nvSpPr>
          <p:cNvPr id="14" name="Text 12"/>
          <p:cNvSpPr/>
          <p:nvPr/>
        </p:nvSpPr>
        <p:spPr>
          <a:xfrm>
            <a:off x="8288893" y="3851911"/>
            <a:ext cx="3026044"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pour démarrer</a:t>
            </a:r>
            <a:endParaRPr lang="en-US" sz="1800" dirty="0"/>
          </a:p>
        </p:txBody>
      </p:sp>
      <p:sp>
        <p:nvSpPr>
          <p:cNvPr id="15" name="Text 13"/>
          <p:cNvSpPr/>
          <p:nvPr/>
        </p:nvSpPr>
        <p:spPr>
          <a:xfrm>
            <a:off x="8288893" y="4248150"/>
            <a:ext cx="302604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Créer un projet, inviter l'équipe et répartir 20 tâches, sans aide</a:t>
            </a:r>
            <a:endParaRPr lang="en-US" sz="1400" dirty="0"/>
          </a:p>
        </p:txBody>
      </p:sp>
      <p:sp>
        <p:nvSpPr>
          <p:cNvPr id="16" name="Text 14"/>
          <p:cNvSpPr/>
          <p:nvPr/>
        </p:nvSpPr>
        <p:spPr>
          <a:xfrm>
            <a:off x="812800" y="6238239"/>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NOS UTILISATEURS</a:t>
            </a:r>
            <a:endParaRPr lang="en-US" sz="1400" dirty="0"/>
          </a:p>
        </p:txBody>
      </p:sp>
      <p:sp>
        <p:nvSpPr>
          <p:cNvPr id="3" name="Text 1"/>
          <p:cNvSpPr/>
          <p:nvPr>
            <p:ph type="title"/>
          </p:nvPr>
        </p:nvSpPr>
        <p:spPr>
          <a:xfrm>
            <a:off x="812800" y="1137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Quatre profils, un même besoin de clarté</a:t>
            </a:r>
            <a:endParaRPr lang="en-US" sz="3400" dirty="0"/>
          </a:p>
        </p:txBody>
      </p:sp>
      <p:sp>
        <p:nvSpPr>
          <p:cNvPr id="4" name="Shape 2"/>
          <p:cNvSpPr/>
          <p:nvPr/>
        </p:nvSpPr>
        <p:spPr>
          <a:xfrm>
            <a:off x="815975" y="1870075"/>
            <a:ext cx="2520950" cy="2592070"/>
          </a:xfrm>
          <a:prstGeom prst="roundRect">
            <a:avLst>
              <a:gd name="adj" fmla="val 4912"/>
            </a:avLst>
          </a:prstGeom>
          <a:solidFill>
            <a:srgbClr val="FDFCF8"/>
          </a:solidFill>
          <a:ln w="6350">
            <a:solidFill>
              <a:srgbClr val="D9D4C5"/>
            </a:solidFill>
            <a:prstDash val="solid"/>
          </a:ln>
        </p:spPr>
      </p:sp>
      <p:sp>
        <p:nvSpPr>
          <p:cNvPr id="5" name="Text 3"/>
          <p:cNvSpPr/>
          <p:nvPr/>
        </p:nvSpPr>
        <p:spPr>
          <a:xfrm>
            <a:off x="1046480" y="2100582"/>
            <a:ext cx="558800" cy="558800"/>
          </a:xfrm>
          <a:prstGeom prst="roundRect">
            <a:avLst>
              <a:gd name="adj" fmla="val 50000"/>
            </a:avLst>
          </a:prstGeom>
          <a:solidFill>
            <a:srgbClr val="2A5BD7"/>
          </a:solidFill>
          <a:ln/>
        </p:spPr>
        <p:txBody>
          <a:bodyPr wrap="square" lIns="0" tIns="0" rIns="0" bIns="0" rtlCol="0" anchor="ctr">
            <a:normAutofit/>
          </a:bodyPr>
          <a:lstStyle/>
          <a:p>
            <a:pPr algn="ctr" indent="0" marL="0">
              <a:lnSpc>
                <a:spcPts val="3080"/>
              </a:lnSpc>
              <a:buNone/>
            </a:pPr>
            <a:r>
              <a:rPr lang="en-US" sz="2200" b="1" dirty="0">
                <a:solidFill>
                  <a:srgbClr val="F7F5EF"/>
                </a:solidFill>
                <a:latin typeface="Arial" pitchFamily="34" charset="0"/>
                <a:ea typeface="Arial" pitchFamily="34" charset="-122"/>
                <a:cs typeface="Arial" pitchFamily="34" charset="-120"/>
              </a:rPr>
              <a:t>L</a:t>
            </a:r>
            <a:endParaRPr lang="en-US" sz="2200" dirty="0"/>
          </a:p>
        </p:txBody>
      </p:sp>
      <p:sp>
        <p:nvSpPr>
          <p:cNvPr id="6" name="Text 4"/>
          <p:cNvSpPr/>
          <p:nvPr/>
        </p:nvSpPr>
        <p:spPr>
          <a:xfrm>
            <a:off x="1046480" y="27482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Léa</a:t>
            </a:r>
            <a:endParaRPr lang="en-US" sz="1800" dirty="0"/>
          </a:p>
        </p:txBody>
      </p:sp>
      <p:sp>
        <p:nvSpPr>
          <p:cNvPr id="7" name="Text 5"/>
          <p:cNvSpPr/>
          <p:nvPr/>
        </p:nvSpPr>
        <p:spPr>
          <a:xfrm>
            <a:off x="1046480" y="311150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Cheffe de projet</a:t>
            </a:r>
            <a:endParaRPr lang="en-US" sz="1300" dirty="0"/>
          </a:p>
        </p:txBody>
      </p:sp>
      <p:sp>
        <p:nvSpPr>
          <p:cNvPr id="8" name="Text 6"/>
          <p:cNvSpPr/>
          <p:nvPr/>
        </p:nvSpPr>
        <p:spPr>
          <a:xfrm>
            <a:off x="1046480" y="3431539"/>
            <a:ext cx="212173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Répartir le travail et garder une vue d'ensemble</a:t>
            </a:r>
            <a:endParaRPr lang="en-US" sz="1500" dirty="0"/>
          </a:p>
        </p:txBody>
      </p:sp>
      <p:sp>
        <p:nvSpPr>
          <p:cNvPr id="9" name="Shape 7"/>
          <p:cNvSpPr/>
          <p:nvPr/>
        </p:nvSpPr>
        <p:spPr>
          <a:xfrm>
            <a:off x="3495675" y="1870075"/>
            <a:ext cx="2520950" cy="2592070"/>
          </a:xfrm>
          <a:prstGeom prst="roundRect">
            <a:avLst>
              <a:gd name="adj" fmla="val 4912"/>
            </a:avLst>
          </a:prstGeom>
          <a:solidFill>
            <a:srgbClr val="FDFCF8"/>
          </a:solidFill>
          <a:ln w="6350">
            <a:solidFill>
              <a:srgbClr val="D9D4C5"/>
            </a:solidFill>
            <a:prstDash val="solid"/>
          </a:ln>
        </p:spPr>
      </p:sp>
      <p:sp>
        <p:nvSpPr>
          <p:cNvPr id="10" name="Text 8"/>
          <p:cNvSpPr/>
          <p:nvPr/>
        </p:nvSpPr>
        <p:spPr>
          <a:xfrm>
            <a:off x="3726180" y="2100582"/>
            <a:ext cx="558800" cy="5588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3080"/>
              </a:lnSpc>
              <a:buNone/>
            </a:pPr>
            <a:r>
              <a:rPr lang="en-US" sz="2200" b="1" dirty="0">
                <a:solidFill>
                  <a:srgbClr val="14213D"/>
                </a:solidFill>
                <a:latin typeface="Arial" pitchFamily="34" charset="0"/>
                <a:ea typeface="Arial" pitchFamily="34" charset="-122"/>
                <a:cs typeface="Arial" pitchFamily="34" charset="-120"/>
              </a:rPr>
              <a:t>K</a:t>
            </a:r>
            <a:endParaRPr lang="en-US" sz="2200" dirty="0"/>
          </a:p>
        </p:txBody>
      </p:sp>
      <p:sp>
        <p:nvSpPr>
          <p:cNvPr id="11" name="Text 9"/>
          <p:cNvSpPr/>
          <p:nvPr/>
        </p:nvSpPr>
        <p:spPr>
          <a:xfrm>
            <a:off x="3726180" y="27482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Karim</a:t>
            </a:r>
            <a:endParaRPr lang="en-US" sz="1800" dirty="0"/>
          </a:p>
        </p:txBody>
      </p:sp>
      <p:sp>
        <p:nvSpPr>
          <p:cNvPr id="12" name="Text 10"/>
          <p:cNvSpPr/>
          <p:nvPr/>
        </p:nvSpPr>
        <p:spPr>
          <a:xfrm>
            <a:off x="3726180" y="311150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Contributeur</a:t>
            </a:r>
            <a:endParaRPr lang="en-US" sz="1300" dirty="0"/>
          </a:p>
        </p:txBody>
      </p:sp>
      <p:sp>
        <p:nvSpPr>
          <p:cNvPr id="13" name="Text 11"/>
          <p:cNvSpPr/>
          <p:nvPr/>
        </p:nvSpPr>
        <p:spPr>
          <a:xfrm>
            <a:off x="3726180" y="3431539"/>
            <a:ext cx="21217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Savoir ce qu'il doit faire, et pour quand</a:t>
            </a:r>
            <a:endParaRPr lang="en-US" sz="1500" dirty="0"/>
          </a:p>
        </p:txBody>
      </p:sp>
      <p:sp>
        <p:nvSpPr>
          <p:cNvPr id="14" name="Shape 12"/>
          <p:cNvSpPr/>
          <p:nvPr/>
        </p:nvSpPr>
        <p:spPr>
          <a:xfrm>
            <a:off x="6175375" y="1870075"/>
            <a:ext cx="2520950" cy="2592070"/>
          </a:xfrm>
          <a:prstGeom prst="roundRect">
            <a:avLst>
              <a:gd name="adj" fmla="val 4912"/>
            </a:avLst>
          </a:prstGeom>
          <a:solidFill>
            <a:srgbClr val="FDFCF8"/>
          </a:solidFill>
          <a:ln w="6350">
            <a:solidFill>
              <a:srgbClr val="D9D4C5"/>
            </a:solidFill>
            <a:prstDash val="solid"/>
          </a:ln>
        </p:spPr>
      </p:sp>
      <p:sp>
        <p:nvSpPr>
          <p:cNvPr id="15" name="Text 13"/>
          <p:cNvSpPr/>
          <p:nvPr/>
        </p:nvSpPr>
        <p:spPr>
          <a:xfrm>
            <a:off x="6405880" y="2100582"/>
            <a:ext cx="558800" cy="558800"/>
          </a:xfrm>
          <a:prstGeom prst="roundRect">
            <a:avLst>
              <a:gd name="adj" fmla="val 50000"/>
            </a:avLst>
          </a:prstGeom>
          <a:solidFill>
            <a:srgbClr val="176B57"/>
          </a:solidFill>
          <a:ln/>
        </p:spPr>
        <p:txBody>
          <a:bodyPr wrap="square" lIns="0" tIns="0" rIns="0" bIns="0" rtlCol="0" anchor="ctr">
            <a:normAutofit/>
          </a:bodyPr>
          <a:lstStyle/>
          <a:p>
            <a:pPr algn="ctr" indent="0" marL="0">
              <a:lnSpc>
                <a:spcPts val="3080"/>
              </a:lnSpc>
              <a:buNone/>
            </a:pPr>
            <a:r>
              <a:rPr lang="en-US" sz="2200" b="1" dirty="0">
                <a:solidFill>
                  <a:srgbClr val="F7F5EF"/>
                </a:solidFill>
                <a:latin typeface="Arial" pitchFamily="34" charset="0"/>
                <a:ea typeface="Arial" pitchFamily="34" charset="-122"/>
                <a:cs typeface="Arial" pitchFamily="34" charset="-120"/>
              </a:rPr>
              <a:t>D</a:t>
            </a:r>
            <a:endParaRPr lang="en-US" sz="2200" dirty="0"/>
          </a:p>
        </p:txBody>
      </p:sp>
      <p:sp>
        <p:nvSpPr>
          <p:cNvPr id="16" name="Text 14"/>
          <p:cNvSpPr/>
          <p:nvPr/>
        </p:nvSpPr>
        <p:spPr>
          <a:xfrm>
            <a:off x="6405880" y="27482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Mme Dupont</a:t>
            </a:r>
            <a:endParaRPr lang="en-US" sz="1800" dirty="0"/>
          </a:p>
        </p:txBody>
      </p:sp>
      <p:sp>
        <p:nvSpPr>
          <p:cNvPr id="17" name="Text 15"/>
          <p:cNvSpPr/>
          <p:nvPr/>
        </p:nvSpPr>
        <p:spPr>
          <a:xfrm>
            <a:off x="6405880" y="311150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Enseignante référente</a:t>
            </a:r>
            <a:endParaRPr lang="en-US" sz="1300" dirty="0"/>
          </a:p>
        </p:txBody>
      </p:sp>
      <p:sp>
        <p:nvSpPr>
          <p:cNvPr id="18" name="Text 16"/>
          <p:cNvSpPr/>
          <p:nvPr/>
        </p:nvSpPr>
        <p:spPr>
          <a:xfrm>
            <a:off x="6405880" y="3431539"/>
            <a:ext cx="212173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Suivre l'avancement de chaque groupe sans micro-gérer</a:t>
            </a:r>
            <a:endParaRPr lang="en-US" sz="1500" dirty="0"/>
          </a:p>
        </p:txBody>
      </p:sp>
      <p:sp>
        <p:nvSpPr>
          <p:cNvPr id="19" name="Shape 17"/>
          <p:cNvSpPr/>
          <p:nvPr/>
        </p:nvSpPr>
        <p:spPr>
          <a:xfrm>
            <a:off x="8855075" y="1870075"/>
            <a:ext cx="2520950" cy="2592070"/>
          </a:xfrm>
          <a:prstGeom prst="roundRect">
            <a:avLst>
              <a:gd name="adj" fmla="val 4912"/>
            </a:avLst>
          </a:prstGeom>
          <a:solidFill>
            <a:srgbClr val="FDFCF8"/>
          </a:solidFill>
          <a:ln w="6350">
            <a:solidFill>
              <a:srgbClr val="D9D4C5"/>
            </a:solidFill>
            <a:prstDash val="solid"/>
          </a:ln>
        </p:spPr>
      </p:sp>
      <p:sp>
        <p:nvSpPr>
          <p:cNvPr id="20" name="Text 18"/>
          <p:cNvSpPr/>
          <p:nvPr/>
        </p:nvSpPr>
        <p:spPr>
          <a:xfrm>
            <a:off x="9085580" y="2100582"/>
            <a:ext cx="558800" cy="558800"/>
          </a:xfrm>
          <a:prstGeom prst="roundRect">
            <a:avLst>
              <a:gd name="adj" fmla="val 50000"/>
            </a:avLst>
          </a:prstGeom>
          <a:solidFill>
            <a:srgbClr val="7A3E8E"/>
          </a:solidFill>
          <a:ln/>
        </p:spPr>
        <p:txBody>
          <a:bodyPr wrap="square" lIns="0" tIns="0" rIns="0" bIns="0" rtlCol="0" anchor="ctr">
            <a:normAutofit/>
          </a:bodyPr>
          <a:lstStyle/>
          <a:p>
            <a:pPr algn="ctr" indent="0" marL="0">
              <a:lnSpc>
                <a:spcPts val="3080"/>
              </a:lnSpc>
              <a:buNone/>
            </a:pPr>
            <a:r>
              <a:rPr lang="en-US" sz="2200" b="1" dirty="0">
                <a:solidFill>
                  <a:srgbClr val="F7F5EF"/>
                </a:solidFill>
                <a:latin typeface="Arial" pitchFamily="34" charset="0"/>
                <a:ea typeface="Arial" pitchFamily="34" charset="-122"/>
                <a:cs typeface="Arial" pitchFamily="34" charset="-120"/>
              </a:rPr>
              <a:t>S</a:t>
            </a:r>
            <a:endParaRPr lang="en-US" sz="2200" dirty="0"/>
          </a:p>
        </p:txBody>
      </p:sp>
      <p:sp>
        <p:nvSpPr>
          <p:cNvPr id="21" name="Text 19"/>
          <p:cNvSpPr/>
          <p:nvPr/>
        </p:nvSpPr>
        <p:spPr>
          <a:xfrm>
            <a:off x="9085580" y="27482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Sami</a:t>
            </a:r>
            <a:endParaRPr lang="en-US" sz="1800" dirty="0"/>
          </a:p>
        </p:txBody>
      </p:sp>
      <p:sp>
        <p:nvSpPr>
          <p:cNvPr id="22" name="Text 20"/>
          <p:cNvSpPr/>
          <p:nvPr/>
        </p:nvSpPr>
        <p:spPr>
          <a:xfrm>
            <a:off x="9085580" y="311150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Étudiant multi-projets</a:t>
            </a:r>
            <a:endParaRPr lang="en-US" sz="1300" dirty="0"/>
          </a:p>
        </p:txBody>
      </p:sp>
      <p:sp>
        <p:nvSpPr>
          <p:cNvPr id="23" name="Text 21"/>
          <p:cNvSpPr/>
          <p:nvPr/>
        </p:nvSpPr>
        <p:spPr>
          <a:xfrm>
            <a:off x="9085580" y="3431539"/>
            <a:ext cx="212173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Une vue unifiée de ses tâches et de ses échéances</a:t>
            </a:r>
            <a:endParaRPr lang="en-US" sz="1500" dirty="0"/>
          </a:p>
        </p:txBody>
      </p:sp>
      <p:sp>
        <p:nvSpPr>
          <p:cNvPr id="24" name="Text 22"/>
          <p:cNvSpPr/>
          <p:nvPr/>
        </p:nvSpPr>
        <p:spPr>
          <a:xfrm>
            <a:off x="812800" y="6238239"/>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VUE D'ENSEMBLE</a:t>
            </a:r>
            <a:endParaRPr lang="en-US" sz="1400" dirty="0"/>
          </a:p>
        </p:txBody>
      </p:sp>
      <p:sp>
        <p:nvSpPr>
          <p:cNvPr id="3" name="Text 1"/>
          <p:cNvSpPr/>
          <p:nvPr>
            <p:ph type="title"/>
          </p:nvPr>
        </p:nvSpPr>
        <p:spPr>
          <a:xfrm>
            <a:off x="812800" y="1137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Sept modules, sept responsables</a:t>
            </a:r>
            <a:endParaRPr lang="en-US" sz="3400" dirty="0"/>
          </a:p>
        </p:txBody>
      </p:sp>
      <p:sp>
        <p:nvSpPr>
          <p:cNvPr id="4" name="Shape 2"/>
          <p:cNvSpPr/>
          <p:nvPr/>
        </p:nvSpPr>
        <p:spPr>
          <a:xfrm>
            <a:off x="815975" y="1870075"/>
            <a:ext cx="2520950" cy="1616710"/>
          </a:xfrm>
          <a:prstGeom prst="roundRect">
            <a:avLst>
              <a:gd name="adj" fmla="val 7659"/>
            </a:avLst>
          </a:prstGeom>
          <a:solidFill>
            <a:srgbClr val="FDFCF8"/>
          </a:solidFill>
          <a:ln w="6350">
            <a:solidFill>
              <a:srgbClr val="D9D4C5"/>
            </a:solidFill>
            <a:prstDash val="solid"/>
          </a:ln>
        </p:spPr>
      </p:sp>
      <p:pic>
        <p:nvPicPr>
          <p:cNvPr id="5" name="Image 0" descr="Users">    </p:cNvPr>
          <p:cNvPicPr>
            <a:picLocks noChangeAspect="1"/>
          </p:cNvPicPr>
          <p:nvPr/>
        </p:nvPicPr>
        <p:blipFill>
          <a:blip r:embed="rId1"/>
          <a:srcRect l="0" r="0" t="0" b="0"/>
          <a:stretch/>
        </p:blipFill>
        <p:spPr>
          <a:xfrm>
            <a:off x="1021080" y="2075182"/>
            <a:ext cx="304800" cy="304800"/>
          </a:xfrm>
          <a:prstGeom prst="rect">
            <a:avLst/>
          </a:prstGeom>
        </p:spPr>
      </p:pic>
      <p:sp>
        <p:nvSpPr>
          <p:cNvPr id="6" name="Text 3"/>
          <p:cNvSpPr/>
          <p:nvPr/>
        </p:nvSpPr>
        <p:spPr>
          <a:xfrm>
            <a:off x="1021080" y="2456182"/>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M1 · Dev 1</a:t>
            </a:r>
            <a:endParaRPr lang="en-US" sz="1300" dirty="0"/>
          </a:p>
        </p:txBody>
      </p:sp>
      <p:sp>
        <p:nvSpPr>
          <p:cNvPr id="7" name="Text 4"/>
          <p:cNvSpPr/>
          <p:nvPr/>
        </p:nvSpPr>
        <p:spPr>
          <a:xfrm>
            <a:off x="1021080" y="2763521"/>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Auth et équipes</a:t>
            </a:r>
            <a:endParaRPr lang="en-US" sz="1700" dirty="0"/>
          </a:p>
        </p:txBody>
      </p:sp>
      <p:sp>
        <p:nvSpPr>
          <p:cNvPr id="8" name="Shape 5"/>
          <p:cNvSpPr/>
          <p:nvPr/>
        </p:nvSpPr>
        <p:spPr>
          <a:xfrm>
            <a:off x="3495675" y="1870075"/>
            <a:ext cx="2520950" cy="1616710"/>
          </a:xfrm>
          <a:prstGeom prst="roundRect">
            <a:avLst>
              <a:gd name="adj" fmla="val 7659"/>
            </a:avLst>
          </a:prstGeom>
          <a:solidFill>
            <a:srgbClr val="FDFCF8"/>
          </a:solidFill>
          <a:ln w="6350">
            <a:solidFill>
              <a:srgbClr val="D9D4C5"/>
            </a:solidFill>
            <a:prstDash val="solid"/>
          </a:ln>
        </p:spPr>
      </p:sp>
      <p:pic>
        <p:nvPicPr>
          <p:cNvPr id="9" name="Image 1" descr="Activity">    </p:cNvPr>
          <p:cNvPicPr>
            <a:picLocks noChangeAspect="1"/>
          </p:cNvPicPr>
          <p:nvPr/>
        </p:nvPicPr>
        <p:blipFill>
          <a:blip r:embed="rId2"/>
          <a:srcRect l="0" r="0" t="0" b="0"/>
          <a:stretch/>
        </p:blipFill>
        <p:spPr>
          <a:xfrm>
            <a:off x="3700780" y="2075182"/>
            <a:ext cx="304800" cy="304800"/>
          </a:xfrm>
          <a:prstGeom prst="rect">
            <a:avLst/>
          </a:prstGeom>
        </p:spPr>
      </p:pic>
      <p:sp>
        <p:nvSpPr>
          <p:cNvPr id="10" name="Text 6"/>
          <p:cNvSpPr/>
          <p:nvPr/>
        </p:nvSpPr>
        <p:spPr>
          <a:xfrm>
            <a:off x="3700780" y="2456182"/>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M2 · Dev 2</a:t>
            </a:r>
            <a:endParaRPr lang="en-US" sz="1300" dirty="0"/>
          </a:p>
        </p:txBody>
      </p:sp>
      <p:sp>
        <p:nvSpPr>
          <p:cNvPr id="11" name="Text 7"/>
          <p:cNvSpPr/>
          <p:nvPr/>
        </p:nvSpPr>
        <p:spPr>
          <a:xfrm>
            <a:off x="3700780" y="2763521"/>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Tableaux Kanban</a:t>
            </a:r>
            <a:endParaRPr lang="en-US" sz="1700" dirty="0"/>
          </a:p>
        </p:txBody>
      </p:sp>
      <p:sp>
        <p:nvSpPr>
          <p:cNvPr id="12" name="Shape 8"/>
          <p:cNvSpPr/>
          <p:nvPr/>
        </p:nvSpPr>
        <p:spPr>
          <a:xfrm>
            <a:off x="6175375" y="1870075"/>
            <a:ext cx="2520950" cy="1616710"/>
          </a:xfrm>
          <a:prstGeom prst="roundRect">
            <a:avLst>
              <a:gd name="adj" fmla="val 7659"/>
            </a:avLst>
          </a:prstGeom>
          <a:solidFill>
            <a:srgbClr val="FDFCF8"/>
          </a:solidFill>
          <a:ln w="6350">
            <a:solidFill>
              <a:srgbClr val="D9D4C5"/>
            </a:solidFill>
            <a:prstDash val="solid"/>
          </a:ln>
        </p:spPr>
      </p:sp>
      <p:pic>
        <p:nvPicPr>
          <p:cNvPr id="13" name="Image 2" descr="CheckCircle">    </p:cNvPr>
          <p:cNvPicPr>
            <a:picLocks noChangeAspect="1"/>
          </p:cNvPicPr>
          <p:nvPr/>
        </p:nvPicPr>
        <p:blipFill>
          <a:blip r:embed="rId3"/>
          <a:srcRect l="0" r="0" t="0" b="0"/>
          <a:stretch/>
        </p:blipFill>
        <p:spPr>
          <a:xfrm>
            <a:off x="6380480" y="2075182"/>
            <a:ext cx="304800" cy="304800"/>
          </a:xfrm>
          <a:prstGeom prst="rect">
            <a:avLst/>
          </a:prstGeom>
        </p:spPr>
      </p:pic>
      <p:sp>
        <p:nvSpPr>
          <p:cNvPr id="14" name="Text 9"/>
          <p:cNvSpPr/>
          <p:nvPr/>
        </p:nvSpPr>
        <p:spPr>
          <a:xfrm>
            <a:off x="6380480" y="2456182"/>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M3 · Dev 3</a:t>
            </a:r>
            <a:endParaRPr lang="en-US" sz="1300" dirty="0"/>
          </a:p>
        </p:txBody>
      </p:sp>
      <p:sp>
        <p:nvSpPr>
          <p:cNvPr id="15" name="Text 10"/>
          <p:cNvSpPr/>
          <p:nvPr/>
        </p:nvSpPr>
        <p:spPr>
          <a:xfrm>
            <a:off x="6380480" y="2763521"/>
            <a:ext cx="2174062"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Tâches et assignations</a:t>
            </a:r>
            <a:endParaRPr lang="en-US" sz="1700" dirty="0"/>
          </a:p>
        </p:txBody>
      </p:sp>
      <p:sp>
        <p:nvSpPr>
          <p:cNvPr id="16" name="Shape 11"/>
          <p:cNvSpPr/>
          <p:nvPr/>
        </p:nvSpPr>
        <p:spPr>
          <a:xfrm>
            <a:off x="8855075" y="1870075"/>
            <a:ext cx="2520950" cy="1616710"/>
          </a:xfrm>
          <a:prstGeom prst="roundRect">
            <a:avLst>
              <a:gd name="adj" fmla="val 7659"/>
            </a:avLst>
          </a:prstGeom>
          <a:solidFill>
            <a:srgbClr val="FDFCF8"/>
          </a:solidFill>
          <a:ln w="6350">
            <a:solidFill>
              <a:srgbClr val="D9D4C5"/>
            </a:solidFill>
            <a:prstDash val="solid"/>
          </a:ln>
        </p:spPr>
      </p:sp>
      <p:pic>
        <p:nvPicPr>
          <p:cNvPr id="17" name="Image 3" descr="Clock">    </p:cNvPr>
          <p:cNvPicPr>
            <a:picLocks noChangeAspect="1"/>
          </p:cNvPicPr>
          <p:nvPr/>
        </p:nvPicPr>
        <p:blipFill>
          <a:blip r:embed="rId4"/>
          <a:srcRect l="0" r="0" t="0" b="0"/>
          <a:stretch/>
        </p:blipFill>
        <p:spPr>
          <a:xfrm>
            <a:off x="9060180" y="2075182"/>
            <a:ext cx="304800" cy="304800"/>
          </a:xfrm>
          <a:prstGeom prst="rect">
            <a:avLst/>
          </a:prstGeom>
        </p:spPr>
      </p:pic>
      <p:sp>
        <p:nvSpPr>
          <p:cNvPr id="18" name="Text 12"/>
          <p:cNvSpPr/>
          <p:nvPr/>
        </p:nvSpPr>
        <p:spPr>
          <a:xfrm>
            <a:off x="9060180" y="2456182"/>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M4 · Dev 4</a:t>
            </a:r>
            <a:endParaRPr lang="en-US" sz="1300" dirty="0"/>
          </a:p>
        </p:txBody>
      </p:sp>
      <p:sp>
        <p:nvSpPr>
          <p:cNvPr id="19" name="Text 13"/>
          <p:cNvSpPr/>
          <p:nvPr/>
        </p:nvSpPr>
        <p:spPr>
          <a:xfrm>
            <a:off x="9060180" y="2763521"/>
            <a:ext cx="2174062"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Calendrier et échéances</a:t>
            </a:r>
            <a:endParaRPr lang="en-US" sz="1700" dirty="0"/>
          </a:p>
        </p:txBody>
      </p:sp>
      <p:sp>
        <p:nvSpPr>
          <p:cNvPr id="20" name="Shape 14"/>
          <p:cNvSpPr/>
          <p:nvPr/>
        </p:nvSpPr>
        <p:spPr>
          <a:xfrm>
            <a:off x="815975" y="3645536"/>
            <a:ext cx="2520950" cy="1774190"/>
          </a:xfrm>
          <a:prstGeom prst="roundRect">
            <a:avLst>
              <a:gd name="adj" fmla="val 6979"/>
            </a:avLst>
          </a:prstGeom>
          <a:solidFill>
            <a:srgbClr val="FDFCF8"/>
          </a:solidFill>
          <a:ln w="6350">
            <a:solidFill>
              <a:srgbClr val="D9D4C5"/>
            </a:solidFill>
            <a:prstDash val="solid"/>
          </a:ln>
        </p:spPr>
      </p:sp>
      <p:pic>
        <p:nvPicPr>
          <p:cNvPr id="21" name="Image 4" descr="Chat">    </p:cNvPr>
          <p:cNvPicPr>
            <a:picLocks noChangeAspect="1"/>
          </p:cNvPicPr>
          <p:nvPr/>
        </p:nvPicPr>
        <p:blipFill>
          <a:blip r:embed="rId5"/>
          <a:srcRect l="0" r="0" t="0" b="0"/>
          <a:stretch/>
        </p:blipFill>
        <p:spPr>
          <a:xfrm>
            <a:off x="1021080" y="3850639"/>
            <a:ext cx="304800" cy="304800"/>
          </a:xfrm>
          <a:prstGeom prst="rect">
            <a:avLst/>
          </a:prstGeom>
        </p:spPr>
      </p:pic>
      <p:sp>
        <p:nvSpPr>
          <p:cNvPr id="22" name="Text 15"/>
          <p:cNvSpPr/>
          <p:nvPr/>
        </p:nvSpPr>
        <p:spPr>
          <a:xfrm>
            <a:off x="1021080" y="4231639"/>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M5 · Dev 5</a:t>
            </a:r>
            <a:endParaRPr lang="en-US" sz="1300" dirty="0"/>
          </a:p>
        </p:txBody>
      </p:sp>
      <p:sp>
        <p:nvSpPr>
          <p:cNvPr id="23" name="Text 16"/>
          <p:cNvSpPr/>
          <p:nvPr/>
        </p:nvSpPr>
        <p:spPr>
          <a:xfrm>
            <a:off x="1021080" y="4538982"/>
            <a:ext cx="231267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Chat et notifications</a:t>
            </a:r>
            <a:endParaRPr lang="en-US" sz="1700" dirty="0"/>
          </a:p>
        </p:txBody>
      </p:sp>
      <p:sp>
        <p:nvSpPr>
          <p:cNvPr id="24" name="Shape 17"/>
          <p:cNvSpPr/>
          <p:nvPr/>
        </p:nvSpPr>
        <p:spPr>
          <a:xfrm>
            <a:off x="3495675" y="3645536"/>
            <a:ext cx="2520950" cy="1774190"/>
          </a:xfrm>
          <a:prstGeom prst="roundRect">
            <a:avLst>
              <a:gd name="adj" fmla="val 6979"/>
            </a:avLst>
          </a:prstGeom>
          <a:solidFill>
            <a:srgbClr val="FDFCF8"/>
          </a:solidFill>
          <a:ln w="6350">
            <a:solidFill>
              <a:srgbClr val="D9D4C5"/>
            </a:solidFill>
            <a:prstDash val="solid"/>
          </a:ln>
        </p:spPr>
      </p:sp>
      <p:pic>
        <p:nvPicPr>
          <p:cNvPr id="25" name="Image 5" descr="Cloud">    </p:cNvPr>
          <p:cNvPicPr>
            <a:picLocks noChangeAspect="1"/>
          </p:cNvPicPr>
          <p:nvPr/>
        </p:nvPicPr>
        <p:blipFill>
          <a:blip r:embed="rId6"/>
          <a:srcRect l="0" r="0" t="0" b="0"/>
          <a:stretch/>
        </p:blipFill>
        <p:spPr>
          <a:xfrm>
            <a:off x="3700780" y="3850639"/>
            <a:ext cx="304800" cy="304800"/>
          </a:xfrm>
          <a:prstGeom prst="rect">
            <a:avLst/>
          </a:prstGeom>
        </p:spPr>
      </p:pic>
      <p:sp>
        <p:nvSpPr>
          <p:cNvPr id="26" name="Text 18"/>
          <p:cNvSpPr/>
          <p:nvPr/>
        </p:nvSpPr>
        <p:spPr>
          <a:xfrm>
            <a:off x="3700780" y="4231639"/>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M6 · Dev 6</a:t>
            </a:r>
            <a:endParaRPr lang="en-US" sz="1300" dirty="0"/>
          </a:p>
        </p:txBody>
      </p:sp>
      <p:sp>
        <p:nvSpPr>
          <p:cNvPr id="27" name="Text 19"/>
          <p:cNvSpPr/>
          <p:nvPr/>
        </p:nvSpPr>
        <p:spPr>
          <a:xfrm>
            <a:off x="3700780" y="4538982"/>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Partage de fichiers</a:t>
            </a:r>
            <a:endParaRPr lang="en-US" sz="1700" dirty="0"/>
          </a:p>
        </p:txBody>
      </p:sp>
      <p:sp>
        <p:nvSpPr>
          <p:cNvPr id="28" name="Shape 20"/>
          <p:cNvSpPr/>
          <p:nvPr/>
        </p:nvSpPr>
        <p:spPr>
          <a:xfrm>
            <a:off x="6175375" y="3645536"/>
            <a:ext cx="2520950" cy="1774190"/>
          </a:xfrm>
          <a:prstGeom prst="roundRect">
            <a:avLst>
              <a:gd name="adj" fmla="val 6979"/>
            </a:avLst>
          </a:prstGeom>
          <a:solidFill>
            <a:srgbClr val="FDFCF8"/>
          </a:solidFill>
          <a:ln w="6350">
            <a:solidFill>
              <a:srgbClr val="D9D4C5"/>
            </a:solidFill>
            <a:prstDash val="solid"/>
          </a:ln>
        </p:spPr>
      </p:sp>
      <p:pic>
        <p:nvPicPr>
          <p:cNvPr id="29" name="Image 6" descr="Chart">    </p:cNvPr>
          <p:cNvPicPr>
            <a:picLocks noChangeAspect="1"/>
          </p:cNvPicPr>
          <p:nvPr/>
        </p:nvPicPr>
        <p:blipFill>
          <a:blip r:embed="rId7"/>
          <a:srcRect l="0" r="0" t="0" b="0"/>
          <a:stretch/>
        </p:blipFill>
        <p:spPr>
          <a:xfrm>
            <a:off x="6380480" y="3850639"/>
            <a:ext cx="304800" cy="304800"/>
          </a:xfrm>
          <a:prstGeom prst="rect">
            <a:avLst/>
          </a:prstGeom>
        </p:spPr>
      </p:pic>
      <p:sp>
        <p:nvSpPr>
          <p:cNvPr id="30" name="Text 21"/>
          <p:cNvSpPr/>
          <p:nvPr/>
        </p:nvSpPr>
        <p:spPr>
          <a:xfrm>
            <a:off x="6380480" y="4231639"/>
            <a:ext cx="21740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5BD7"/>
                </a:solidFill>
                <a:latin typeface="Arial" pitchFamily="34" charset="0"/>
                <a:ea typeface="Arial" pitchFamily="34" charset="-122"/>
                <a:cs typeface="Arial" pitchFamily="34" charset="-120"/>
              </a:rPr>
              <a:t>M7 · Dev 7</a:t>
            </a:r>
            <a:endParaRPr lang="en-US" sz="1300" dirty="0"/>
          </a:p>
        </p:txBody>
      </p:sp>
      <p:sp>
        <p:nvSpPr>
          <p:cNvPr id="31" name="Text 22"/>
          <p:cNvSpPr/>
          <p:nvPr/>
        </p:nvSpPr>
        <p:spPr>
          <a:xfrm>
            <a:off x="6380480" y="4538982"/>
            <a:ext cx="2174062"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Statistiques et rapports</a:t>
            </a:r>
            <a:endParaRPr lang="en-US" sz="1700" dirty="0"/>
          </a:p>
        </p:txBody>
      </p:sp>
      <p:sp>
        <p:nvSpPr>
          <p:cNvPr id="32" name="Shape 23"/>
          <p:cNvSpPr/>
          <p:nvPr/>
        </p:nvSpPr>
        <p:spPr>
          <a:xfrm>
            <a:off x="8851900" y="3642361"/>
            <a:ext cx="2527300" cy="1780540"/>
          </a:xfrm>
          <a:prstGeom prst="roundRect">
            <a:avLst>
              <a:gd name="adj" fmla="val 7133"/>
            </a:avLst>
          </a:prstGeom>
          <a:solidFill>
            <a:srgbClr val="14213D"/>
          </a:solidFill>
          <a:ln/>
        </p:spPr>
      </p:sp>
      <p:pic>
        <p:nvPicPr>
          <p:cNvPr id="33" name="Image 7" descr="Lock">    </p:cNvPr>
          <p:cNvPicPr>
            <a:picLocks noChangeAspect="1"/>
          </p:cNvPicPr>
          <p:nvPr/>
        </p:nvPicPr>
        <p:blipFill>
          <a:blip r:embed="rId8"/>
          <a:srcRect l="0" r="0" t="0" b="0"/>
          <a:stretch/>
        </p:blipFill>
        <p:spPr>
          <a:xfrm>
            <a:off x="9055100" y="3845561"/>
            <a:ext cx="304800" cy="304800"/>
          </a:xfrm>
          <a:prstGeom prst="rect">
            <a:avLst/>
          </a:prstGeom>
        </p:spPr>
      </p:pic>
      <p:sp>
        <p:nvSpPr>
          <p:cNvPr id="34" name="Text 24"/>
          <p:cNvSpPr/>
          <p:nvPr/>
        </p:nvSpPr>
        <p:spPr>
          <a:xfrm>
            <a:off x="9055100" y="4226561"/>
            <a:ext cx="21845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33A"/>
                </a:solidFill>
                <a:latin typeface="Arial" pitchFamily="34" charset="0"/>
                <a:ea typeface="Arial" pitchFamily="34" charset="-122"/>
                <a:cs typeface="Arial" pitchFamily="34" charset="-120"/>
              </a:rPr>
              <a:t>Transverse</a:t>
            </a:r>
            <a:endParaRPr lang="en-US" sz="1300" dirty="0"/>
          </a:p>
        </p:txBody>
      </p:sp>
      <p:sp>
        <p:nvSpPr>
          <p:cNvPr id="35" name="Text 25"/>
          <p:cNvSpPr/>
          <p:nvPr/>
        </p:nvSpPr>
        <p:spPr>
          <a:xfrm>
            <a:off x="9055100" y="4533900"/>
            <a:ext cx="2184527" cy="7112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EF"/>
                </a:solidFill>
                <a:latin typeface="Arial" pitchFamily="34" charset="0"/>
                <a:ea typeface="Arial" pitchFamily="34" charset="-122"/>
                <a:cs typeface="Arial" pitchFamily="34" charset="-120"/>
              </a:rPr>
              <a:t>Une responsabilité au service de l'équipe par développeur</a:t>
            </a:r>
            <a:endParaRPr lang="en-US" sz="1500" dirty="0"/>
          </a:p>
        </p:txBody>
      </p:sp>
      <p:sp>
        <p:nvSpPr>
          <p:cNvPr id="36" name="Text 26"/>
          <p:cNvSpPr/>
          <p:nvPr/>
        </p:nvSpPr>
        <p:spPr>
          <a:xfrm>
            <a:off x="812800" y="6238239"/>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1 · DEV 1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Authentification et gestion des équipes</a:t>
            </a:r>
            <a:endParaRPr lang="en-US" sz="3200" dirty="0"/>
          </a:p>
        </p:txBody>
      </p:sp>
      <p:sp>
        <p:nvSpPr>
          <p:cNvPr id="4" name="Text 2"/>
          <p:cNvSpPr/>
          <p:nvPr/>
        </p:nvSpPr>
        <p:spPr>
          <a:xfrm>
            <a:off x="812800" y="1838961"/>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82"/>
            <a:ext cx="88900" cy="88900"/>
          </a:xfrm>
          <a:prstGeom prst="roundRect">
            <a:avLst>
              <a:gd name="adj" fmla="val 50000"/>
            </a:avLst>
          </a:prstGeom>
          <a:solidFill>
            <a:srgbClr val="2A5BD7"/>
          </a:solidFill>
          <a:ln/>
        </p:spPr>
      </p:sp>
      <p:sp>
        <p:nvSpPr>
          <p:cNvPr id="6" name="Text 4"/>
          <p:cNvSpPr/>
          <p:nvPr/>
        </p:nvSpPr>
        <p:spPr>
          <a:xfrm>
            <a:off x="949960" y="2252982"/>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Inscription, connexion et session persistante</a:t>
            </a:r>
            <a:endParaRPr lang="en-US" sz="1600" dirty="0"/>
          </a:p>
        </p:txBody>
      </p:sp>
      <p:sp>
        <p:nvSpPr>
          <p:cNvPr id="7" name="Shape 5"/>
          <p:cNvSpPr/>
          <p:nvPr/>
        </p:nvSpPr>
        <p:spPr>
          <a:xfrm>
            <a:off x="812800" y="2778761"/>
            <a:ext cx="88900" cy="88900"/>
          </a:xfrm>
          <a:prstGeom prst="roundRect">
            <a:avLst>
              <a:gd name="adj" fmla="val 50000"/>
            </a:avLst>
          </a:prstGeom>
          <a:solidFill>
            <a:srgbClr val="2A5BD7"/>
          </a:solidFill>
          <a:ln/>
        </p:spPr>
      </p:sp>
      <p:sp>
        <p:nvSpPr>
          <p:cNvPr id="8" name="Text 6"/>
          <p:cNvSpPr/>
          <p:nvPr/>
        </p:nvSpPr>
        <p:spPr>
          <a:xfrm>
            <a:off x="949960" y="2677161"/>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Plusieurs équipes, invitation par lien à durée limitée</a:t>
            </a:r>
            <a:endParaRPr lang="en-US" sz="1600" dirty="0"/>
          </a:p>
        </p:txBody>
      </p:sp>
      <p:sp>
        <p:nvSpPr>
          <p:cNvPr id="9" name="Shape 7"/>
          <p:cNvSpPr/>
          <p:nvPr/>
        </p:nvSpPr>
        <p:spPr>
          <a:xfrm>
            <a:off x="812800" y="3202939"/>
            <a:ext cx="88900" cy="88900"/>
          </a:xfrm>
          <a:prstGeom prst="roundRect">
            <a:avLst>
              <a:gd name="adj" fmla="val 50000"/>
            </a:avLst>
          </a:prstGeom>
          <a:solidFill>
            <a:srgbClr val="2A5BD7"/>
          </a:solidFill>
          <a:ln/>
        </p:spPr>
      </p:sp>
      <p:sp>
        <p:nvSpPr>
          <p:cNvPr id="10" name="Text 8"/>
          <p:cNvSpPr/>
          <p:nvPr/>
        </p:nvSpPr>
        <p:spPr>
          <a:xfrm>
            <a:off x="949960" y="3101339"/>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Quatre rôles : propriétaire, administrateur, membre, observateur</a:t>
            </a:r>
            <a:endParaRPr lang="en-US" sz="1600" dirty="0"/>
          </a:p>
        </p:txBody>
      </p:sp>
      <p:sp>
        <p:nvSpPr>
          <p:cNvPr id="11" name="Shape 9"/>
          <p:cNvSpPr/>
          <p:nvPr/>
        </p:nvSpPr>
        <p:spPr>
          <a:xfrm>
            <a:off x="812800" y="3911600"/>
            <a:ext cx="88900" cy="88900"/>
          </a:xfrm>
          <a:prstGeom prst="roundRect">
            <a:avLst>
              <a:gd name="adj" fmla="val 50000"/>
            </a:avLst>
          </a:prstGeom>
          <a:solidFill>
            <a:srgbClr val="2A5BD7"/>
          </a:solidFill>
          <a:ln/>
        </p:spPr>
      </p:sp>
      <p:sp>
        <p:nvSpPr>
          <p:cNvPr id="12" name="Text 10"/>
          <p:cNvSpPr/>
          <p:nvPr/>
        </p:nvSpPr>
        <p:spPr>
          <a:xfrm>
            <a:off x="949960" y="3810000"/>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Profil, connexion Google ou GitHub, mot de passe oublié</a:t>
            </a:r>
            <a:endParaRPr lang="en-US" sz="1600" dirty="0"/>
          </a:p>
        </p:txBody>
      </p:sp>
      <p:sp>
        <p:nvSpPr>
          <p:cNvPr id="13" name="Shape 11"/>
          <p:cNvSpPr/>
          <p:nvPr/>
        </p:nvSpPr>
        <p:spPr>
          <a:xfrm>
            <a:off x="6868160" y="1838961"/>
            <a:ext cx="4511040" cy="4003040"/>
          </a:xfrm>
          <a:prstGeom prst="roundRect">
            <a:avLst>
              <a:gd name="adj" fmla="val 3173"/>
            </a:avLst>
          </a:prstGeom>
          <a:solidFill>
            <a:srgbClr val="14213D"/>
          </a:solidFill>
          <a:ln/>
        </p:spPr>
      </p:sp>
      <p:sp>
        <p:nvSpPr>
          <p:cNvPr id="14" name="Text 12"/>
          <p:cNvSpPr/>
          <p:nvPr/>
        </p:nvSpPr>
        <p:spPr>
          <a:xfrm>
            <a:off x="7172960" y="2143761"/>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Un membre simple ne peut ni inviter ni retirer quelqu'un, même en appelant l'action directement.</a:t>
            </a:r>
            <a:endParaRPr lang="en-US" sz="1600" dirty="0"/>
          </a:p>
        </p:txBody>
      </p:sp>
      <p:sp>
        <p:nvSpPr>
          <p:cNvPr id="16" name="Text 14"/>
          <p:cNvSpPr/>
          <p:nvPr/>
        </p:nvSpPr>
        <p:spPr>
          <a:xfrm>
            <a:off x="7172960" y="348233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82"/>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Bibliothèque de permissions (3 j)</a:t>
            </a:r>
            <a:endParaRPr lang="en-US" sz="1500" dirty="0"/>
          </a:p>
        </p:txBody>
      </p:sp>
      <p:sp>
        <p:nvSpPr>
          <p:cNvPr id="18" name="Text 16"/>
          <p:cNvSpPr/>
          <p:nvPr/>
        </p:nvSpPr>
        <p:spPr>
          <a:xfrm>
            <a:off x="7172960" y="42341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592321"/>
            <a:ext cx="42062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Aucun module : tous les autres en dépendent.</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2 · DEV 2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Tableaux Kanban</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Projets d'équipe, archivage et modèles (Sprint, Projet de fin d'année)</a:t>
            </a:r>
            <a:endParaRPr lang="en-US" sz="1600" dirty="0"/>
          </a:p>
        </p:txBody>
      </p:sp>
      <p:sp>
        <p:nvSpPr>
          <p:cNvPr id="7" name="Shape 5"/>
          <p:cNvSpPr/>
          <p:nvPr/>
        </p:nvSpPr>
        <p:spPr>
          <a:xfrm>
            <a:off x="812800" y="3063242"/>
            <a:ext cx="88900" cy="88900"/>
          </a:xfrm>
          <a:prstGeom prst="roundRect">
            <a:avLst>
              <a:gd name="adj" fmla="val 50000"/>
            </a:avLst>
          </a:prstGeom>
          <a:solidFill>
            <a:srgbClr val="2A5BD7"/>
          </a:solidFill>
          <a:ln/>
        </p:spPr>
      </p:sp>
      <p:sp>
        <p:nvSpPr>
          <p:cNvPr id="8" name="Text 6"/>
          <p:cNvSpPr/>
          <p:nvPr/>
        </p:nvSpPr>
        <p:spPr>
          <a:xfrm>
            <a:off x="949960" y="2961642"/>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Quatre colonnes par défaut, ajout, renommage, ordre modifiable</a:t>
            </a:r>
            <a:endParaRPr lang="en-US" sz="1600" dirty="0"/>
          </a:p>
        </p:txBody>
      </p:sp>
      <p:sp>
        <p:nvSpPr>
          <p:cNvPr id="9" name="Shape 7"/>
          <p:cNvSpPr/>
          <p:nvPr/>
        </p:nvSpPr>
        <p:spPr>
          <a:xfrm>
            <a:off x="812800" y="3771900"/>
            <a:ext cx="88900" cy="88900"/>
          </a:xfrm>
          <a:prstGeom prst="roundRect">
            <a:avLst>
              <a:gd name="adj" fmla="val 50000"/>
            </a:avLst>
          </a:prstGeom>
          <a:solidFill>
            <a:srgbClr val="2A5BD7"/>
          </a:solidFill>
          <a:ln/>
        </p:spPr>
      </p:sp>
      <p:sp>
        <p:nvSpPr>
          <p:cNvPr id="10" name="Text 8"/>
          <p:cNvSpPr/>
          <p:nvPr/>
        </p:nvSpPr>
        <p:spPr>
          <a:xfrm>
            <a:off x="949960" y="3670300"/>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Cartes déplaçables par glisser-déposer, ordre conservé au rechargement</a:t>
            </a:r>
            <a:endParaRPr lang="en-US" sz="1600" dirty="0"/>
          </a:p>
        </p:txBody>
      </p:sp>
      <p:sp>
        <p:nvSpPr>
          <p:cNvPr id="11" name="Shape 9"/>
          <p:cNvSpPr/>
          <p:nvPr/>
        </p:nvSpPr>
        <p:spPr>
          <a:xfrm>
            <a:off x="812800" y="4480564"/>
            <a:ext cx="88900" cy="88900"/>
          </a:xfrm>
          <a:prstGeom prst="roundRect">
            <a:avLst>
              <a:gd name="adj" fmla="val 50000"/>
            </a:avLst>
          </a:prstGeom>
          <a:solidFill>
            <a:srgbClr val="2A5BD7"/>
          </a:solidFill>
          <a:ln/>
        </p:spPr>
      </p:sp>
      <p:sp>
        <p:nvSpPr>
          <p:cNvPr id="12" name="Text 10"/>
          <p:cNvSpPr/>
          <p:nvPr/>
        </p:nvSpPr>
        <p:spPr>
          <a:xfrm>
            <a:off x="949960" y="4378964"/>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Filtres, mises à jour immédiates, accessibilité clavier et tactile</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Déplacer une carte puis recharger la page conserve sa position, même avec 100 cartes.</a:t>
            </a:r>
            <a:endParaRPr lang="en-US" sz="1600" dirty="0"/>
          </a:p>
        </p:txBody>
      </p:sp>
      <p:sp>
        <p:nvSpPr>
          <p:cNvPr id="16" name="Text 14"/>
          <p:cNvSpPr/>
          <p:nvPr/>
        </p:nvSpPr>
        <p:spPr>
          <a:xfrm>
            <a:off x="7172960" y="3482342"/>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79"/>
            <a:ext cx="401848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Socle d'interface : layout et design system (3 j)</a:t>
            </a:r>
            <a:endParaRPr lang="en-US" sz="1500" dirty="0"/>
          </a:p>
        </p:txBody>
      </p:sp>
      <p:sp>
        <p:nvSpPr>
          <p:cNvPr id="18" name="Text 16"/>
          <p:cNvSpPr/>
          <p:nvPr/>
        </p:nvSpPr>
        <p:spPr>
          <a:xfrm>
            <a:off x="7172960" y="45008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859021"/>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M3, M5 et M7</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3 · DEV 3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Tâches et assignations</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Tâche détaillée : description, priorité, échéance</a:t>
            </a:r>
            <a:endParaRPr lang="en-US" sz="1600" dirty="0"/>
          </a:p>
        </p:txBody>
      </p:sp>
      <p:sp>
        <p:nvSpPr>
          <p:cNvPr id="7" name="Shape 5"/>
          <p:cNvSpPr/>
          <p:nvPr/>
        </p:nvSpPr>
        <p:spPr>
          <a:xfrm>
            <a:off x="812800" y="2778764"/>
            <a:ext cx="88900" cy="88900"/>
          </a:xfrm>
          <a:prstGeom prst="roundRect">
            <a:avLst>
              <a:gd name="adj" fmla="val 50000"/>
            </a:avLst>
          </a:prstGeom>
          <a:solidFill>
            <a:srgbClr val="2A5BD7"/>
          </a:solidFill>
          <a:ln/>
        </p:spPr>
      </p:sp>
      <p:sp>
        <p:nvSpPr>
          <p:cNvPr id="8" name="Text 6"/>
          <p:cNvSpPr/>
          <p:nvPr/>
        </p:nvSpPr>
        <p:spPr>
          <a:xfrm>
            <a:off x="949960" y="2677164"/>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Assignation à un ou plusieurs membres, étiquettes du projet</a:t>
            </a:r>
            <a:endParaRPr lang="en-US" sz="1600" dirty="0"/>
          </a:p>
        </p:txBody>
      </p:sp>
      <p:sp>
        <p:nvSpPr>
          <p:cNvPr id="9" name="Shape 7"/>
          <p:cNvSpPr/>
          <p:nvPr/>
        </p:nvSpPr>
        <p:spPr>
          <a:xfrm>
            <a:off x="812800" y="3202942"/>
            <a:ext cx="88900" cy="88900"/>
          </a:xfrm>
          <a:prstGeom prst="roundRect">
            <a:avLst>
              <a:gd name="adj" fmla="val 50000"/>
            </a:avLst>
          </a:prstGeom>
          <a:solidFill>
            <a:srgbClr val="2A5BD7"/>
          </a:solidFill>
          <a:ln/>
        </p:spPr>
      </p:sp>
      <p:sp>
        <p:nvSpPr>
          <p:cNvPr id="10" name="Text 8"/>
          <p:cNvSpPr/>
          <p:nvPr/>
        </p:nvSpPr>
        <p:spPr>
          <a:xfrm>
            <a:off x="949960" y="3101342"/>
            <a:ext cx="5918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Sous-tâches avec barre de progression, historique de la tâche</a:t>
            </a:r>
            <a:endParaRPr lang="en-US" sz="1600" dirty="0"/>
          </a:p>
        </p:txBody>
      </p:sp>
      <p:sp>
        <p:nvSpPr>
          <p:cNvPr id="11" name="Shape 9"/>
          <p:cNvSpPr/>
          <p:nvPr/>
        </p:nvSpPr>
        <p:spPr>
          <a:xfrm>
            <a:off x="812800" y="3627121"/>
            <a:ext cx="88900" cy="88900"/>
          </a:xfrm>
          <a:prstGeom prst="roundRect">
            <a:avLst>
              <a:gd name="adj" fmla="val 50000"/>
            </a:avLst>
          </a:prstGeom>
          <a:solidFill>
            <a:srgbClr val="2A5BD7"/>
          </a:solidFill>
          <a:ln/>
        </p:spPr>
      </p:sp>
      <p:sp>
        <p:nvSpPr>
          <p:cNvPr id="12" name="Text 10"/>
          <p:cNvSpPr/>
          <p:nvPr/>
        </p:nvSpPr>
        <p:spPr>
          <a:xfrm>
            <a:off x="949960" y="3525521"/>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Liste filtrable dont les filtres restent dans l'adresse</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Assigner une tâche la fait apparaître dans « Mes tâches » et déclenche une notification.</a:t>
            </a:r>
            <a:endParaRPr lang="en-US" sz="1600" dirty="0"/>
          </a:p>
        </p:txBody>
      </p:sp>
      <p:sp>
        <p:nvSpPr>
          <p:cNvPr id="16" name="Text 14"/>
          <p:cNvSpPr/>
          <p:nvPr/>
        </p:nvSpPr>
        <p:spPr>
          <a:xfrm>
            <a:off x="7172960" y="3482342"/>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79"/>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Schéma de données et migrations (3 j)</a:t>
            </a:r>
            <a:endParaRPr lang="en-US" sz="1500" dirty="0"/>
          </a:p>
        </p:txBody>
      </p:sp>
      <p:sp>
        <p:nvSpPr>
          <p:cNvPr id="18" name="Text 16"/>
          <p:cNvSpPr/>
          <p:nvPr/>
        </p:nvSpPr>
        <p:spPr>
          <a:xfrm>
            <a:off x="7172960" y="42341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592321"/>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M2, M5, M6 et M7</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4 · DEV 4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Calendrier et échéances</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Calendrier du projet et calendrier personnel (mois, semaine, liste)</a:t>
            </a:r>
            <a:endParaRPr lang="en-US" sz="1600" dirty="0"/>
          </a:p>
        </p:txBody>
      </p:sp>
      <p:sp>
        <p:nvSpPr>
          <p:cNvPr id="7" name="Shape 5"/>
          <p:cNvSpPr/>
          <p:nvPr/>
        </p:nvSpPr>
        <p:spPr>
          <a:xfrm>
            <a:off x="812800" y="3063242"/>
            <a:ext cx="88900" cy="88900"/>
          </a:xfrm>
          <a:prstGeom prst="roundRect">
            <a:avLst>
              <a:gd name="adj" fmla="val 50000"/>
            </a:avLst>
          </a:prstGeom>
          <a:solidFill>
            <a:srgbClr val="2A5BD7"/>
          </a:solidFill>
          <a:ln/>
        </p:spPr>
      </p:sp>
      <p:sp>
        <p:nvSpPr>
          <p:cNvPr id="8" name="Text 6"/>
          <p:cNvSpPr/>
          <p:nvPr/>
        </p:nvSpPr>
        <p:spPr>
          <a:xfrm>
            <a:off x="949960" y="2961642"/>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Jalons du projet : rendu, soutenance, livraison</a:t>
            </a:r>
            <a:endParaRPr lang="en-US" sz="1600" dirty="0"/>
          </a:p>
        </p:txBody>
      </p:sp>
      <p:sp>
        <p:nvSpPr>
          <p:cNvPr id="9" name="Shape 7"/>
          <p:cNvSpPr/>
          <p:nvPr/>
        </p:nvSpPr>
        <p:spPr>
          <a:xfrm>
            <a:off x="812800" y="3487421"/>
            <a:ext cx="88900" cy="88900"/>
          </a:xfrm>
          <a:prstGeom prst="roundRect">
            <a:avLst>
              <a:gd name="adj" fmla="val 50000"/>
            </a:avLst>
          </a:prstGeom>
          <a:solidFill>
            <a:srgbClr val="2A5BD7"/>
          </a:solidFill>
          <a:ln/>
        </p:spPr>
      </p:sp>
      <p:sp>
        <p:nvSpPr>
          <p:cNvPr id="10" name="Text 8"/>
          <p:cNvSpPr/>
          <p:nvPr/>
        </p:nvSpPr>
        <p:spPr>
          <a:xfrm>
            <a:off x="949960" y="3385821"/>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Page « Mes tâches » classée par échéance</a:t>
            </a:r>
            <a:endParaRPr lang="en-US" sz="1600" dirty="0"/>
          </a:p>
        </p:txBody>
      </p:sp>
      <p:sp>
        <p:nvSpPr>
          <p:cNvPr id="11" name="Shape 9"/>
          <p:cNvSpPr/>
          <p:nvPr/>
        </p:nvSpPr>
        <p:spPr>
          <a:xfrm>
            <a:off x="812800" y="3911600"/>
            <a:ext cx="88900" cy="88900"/>
          </a:xfrm>
          <a:prstGeom prst="roundRect">
            <a:avLst>
              <a:gd name="adj" fmla="val 50000"/>
            </a:avLst>
          </a:prstGeom>
          <a:solidFill>
            <a:srgbClr val="2A5BD7"/>
          </a:solidFill>
          <a:ln/>
        </p:spPr>
      </p:sp>
      <p:sp>
        <p:nvSpPr>
          <p:cNvPr id="12" name="Text 10"/>
          <p:cNvSpPr/>
          <p:nvPr/>
        </p:nvSpPr>
        <p:spPr>
          <a:xfrm>
            <a:off x="949960" y="3810000"/>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Rappels 24 h et 1 h avant l'échéance, export iCal</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Modifier l'échéance d'une tâche met le calendrier à jour sans rechargement manuel.</a:t>
            </a:r>
            <a:endParaRPr lang="en-US" sz="1600" dirty="0"/>
          </a:p>
        </p:txBody>
      </p:sp>
      <p:sp>
        <p:nvSpPr>
          <p:cNvPr id="16" name="Text 14"/>
          <p:cNvSpPr/>
          <p:nvPr/>
        </p:nvSpPr>
        <p:spPr>
          <a:xfrm>
            <a:off x="7172960" y="3482342"/>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79"/>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Tests de bout en bout (3 j)</a:t>
            </a:r>
            <a:endParaRPr lang="en-US" sz="1500" dirty="0"/>
          </a:p>
        </p:txBody>
      </p:sp>
      <p:sp>
        <p:nvSpPr>
          <p:cNvPr id="18" name="Text 16"/>
          <p:cNvSpPr/>
          <p:nvPr/>
        </p:nvSpPr>
        <p:spPr>
          <a:xfrm>
            <a:off x="7172960" y="42341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592321"/>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M3 et M5</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5 · DEV 5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Chat en temps réel et notifications</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Salon d'équipe et salon par projet, messages instantanés</a:t>
            </a:r>
            <a:endParaRPr lang="en-US" sz="1600" dirty="0"/>
          </a:p>
        </p:txBody>
      </p:sp>
      <p:sp>
        <p:nvSpPr>
          <p:cNvPr id="7" name="Shape 5"/>
          <p:cNvSpPr/>
          <p:nvPr/>
        </p:nvSpPr>
        <p:spPr>
          <a:xfrm>
            <a:off x="812800" y="2778764"/>
            <a:ext cx="88900" cy="88900"/>
          </a:xfrm>
          <a:prstGeom prst="roundRect">
            <a:avLst>
              <a:gd name="adj" fmla="val 50000"/>
            </a:avLst>
          </a:prstGeom>
          <a:solidFill>
            <a:srgbClr val="2A5BD7"/>
          </a:solidFill>
          <a:ln/>
        </p:spPr>
      </p:sp>
      <p:sp>
        <p:nvSpPr>
          <p:cNvPr id="8" name="Text 6"/>
          <p:cNvSpPr/>
          <p:nvPr/>
        </p:nvSpPr>
        <p:spPr>
          <a:xfrm>
            <a:off x="949960" y="2677164"/>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Historique, messages non lus, mentions @membre et #tâche</a:t>
            </a:r>
            <a:endParaRPr lang="en-US" sz="1600" dirty="0"/>
          </a:p>
        </p:txBody>
      </p:sp>
      <p:sp>
        <p:nvSpPr>
          <p:cNvPr id="9" name="Shape 7"/>
          <p:cNvSpPr/>
          <p:nvPr/>
        </p:nvSpPr>
        <p:spPr>
          <a:xfrm>
            <a:off x="812800" y="3202942"/>
            <a:ext cx="88900" cy="88900"/>
          </a:xfrm>
          <a:prstGeom prst="roundRect">
            <a:avLst>
              <a:gd name="adj" fmla="val 50000"/>
            </a:avLst>
          </a:prstGeom>
          <a:solidFill>
            <a:srgbClr val="2A5BD7"/>
          </a:solidFill>
          <a:ln/>
        </p:spPr>
      </p:sp>
      <p:sp>
        <p:nvSpPr>
          <p:cNvPr id="10" name="Text 8"/>
          <p:cNvSpPr/>
          <p:nvPr/>
        </p:nvSpPr>
        <p:spPr>
          <a:xfrm>
            <a:off x="949960" y="3101342"/>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Centre de notifications : assignation, mention, rappel</a:t>
            </a:r>
            <a:endParaRPr lang="en-US" sz="1600" dirty="0"/>
          </a:p>
        </p:txBody>
      </p:sp>
      <p:sp>
        <p:nvSpPr>
          <p:cNvPr id="11" name="Shape 9"/>
          <p:cNvSpPr/>
          <p:nvPr/>
        </p:nvSpPr>
        <p:spPr>
          <a:xfrm>
            <a:off x="812800" y="3627121"/>
            <a:ext cx="88900" cy="88900"/>
          </a:xfrm>
          <a:prstGeom prst="roundRect">
            <a:avLst>
              <a:gd name="adj" fmla="val 50000"/>
            </a:avLst>
          </a:prstGeom>
          <a:solidFill>
            <a:srgbClr val="2A5BD7"/>
          </a:solidFill>
          <a:ln/>
        </p:spPr>
      </p:sp>
      <p:sp>
        <p:nvSpPr>
          <p:cNvPr id="12" name="Text 10"/>
          <p:cNvSpPr/>
          <p:nvPr/>
        </p:nvSpPr>
        <p:spPr>
          <a:xfrm>
            <a:off x="949960" y="3525521"/>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Fil de discussion des tâches et synchronisation en direct du tableau</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Un message apparaît chez les autres en moins d'une seconde, sans rechargement.</a:t>
            </a:r>
            <a:endParaRPr lang="en-US" sz="1600" dirty="0"/>
          </a:p>
        </p:txBody>
      </p:sp>
      <p:sp>
        <p:nvSpPr>
          <p:cNvPr id="16" name="Text 14"/>
          <p:cNvSpPr/>
          <p:nvPr/>
        </p:nvSpPr>
        <p:spPr>
          <a:xfrm>
            <a:off x="7172960" y="31978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556000"/>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Serveur temps réel et tâches planifiées (3 j)</a:t>
            </a:r>
            <a:endParaRPr lang="en-US" sz="1500" dirty="0"/>
          </a:p>
        </p:txBody>
      </p:sp>
      <p:sp>
        <p:nvSpPr>
          <p:cNvPr id="18" name="Text 16"/>
          <p:cNvSpPr/>
          <p:nvPr/>
        </p:nvSpPr>
        <p:spPr>
          <a:xfrm>
            <a:off x="7172960" y="3949700"/>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307842"/>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et M3</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6 · DEV 6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Partage de fichiers</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Dépôt par glisser-déposer avec progression et contrôles</a:t>
            </a:r>
            <a:endParaRPr lang="en-US" sz="1600" dirty="0"/>
          </a:p>
        </p:txBody>
      </p:sp>
      <p:sp>
        <p:nvSpPr>
          <p:cNvPr id="7" name="Shape 5"/>
          <p:cNvSpPr/>
          <p:nvPr/>
        </p:nvSpPr>
        <p:spPr>
          <a:xfrm>
            <a:off x="812800" y="2778764"/>
            <a:ext cx="88900" cy="88900"/>
          </a:xfrm>
          <a:prstGeom prst="roundRect">
            <a:avLst>
              <a:gd name="adj" fmla="val 50000"/>
            </a:avLst>
          </a:prstGeom>
          <a:solidFill>
            <a:srgbClr val="2A5BD7"/>
          </a:solidFill>
          <a:ln/>
        </p:spPr>
      </p:sp>
      <p:sp>
        <p:nvSpPr>
          <p:cNvPr id="8" name="Text 6"/>
          <p:cNvSpPr/>
          <p:nvPr/>
        </p:nvSpPr>
        <p:spPr>
          <a:xfrm>
            <a:off x="949960" y="2677164"/>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Dossiers, sous-dossiers, aperçu des images, PDF et textes</a:t>
            </a:r>
            <a:endParaRPr lang="en-US" sz="1600" dirty="0"/>
          </a:p>
        </p:txBody>
      </p:sp>
      <p:sp>
        <p:nvSpPr>
          <p:cNvPr id="9" name="Shape 7"/>
          <p:cNvSpPr/>
          <p:nvPr/>
        </p:nvSpPr>
        <p:spPr>
          <a:xfrm>
            <a:off x="812800" y="3202942"/>
            <a:ext cx="88900" cy="88900"/>
          </a:xfrm>
          <a:prstGeom prst="roundRect">
            <a:avLst>
              <a:gd name="adj" fmla="val 50000"/>
            </a:avLst>
          </a:prstGeom>
          <a:solidFill>
            <a:srgbClr val="2A5BD7"/>
          </a:solidFill>
          <a:ln/>
        </p:spPr>
      </p:sp>
      <p:sp>
        <p:nvSpPr>
          <p:cNvPr id="10" name="Text 8"/>
          <p:cNvSpPr/>
          <p:nvPr/>
        </p:nvSpPr>
        <p:spPr>
          <a:xfrm>
            <a:off x="949960" y="3101342"/>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Pièces jointes liées aux tâches, téléchargement contrôlé</a:t>
            </a:r>
            <a:endParaRPr lang="en-US" sz="1600" dirty="0"/>
          </a:p>
        </p:txBody>
      </p:sp>
      <p:sp>
        <p:nvSpPr>
          <p:cNvPr id="11" name="Shape 9"/>
          <p:cNvSpPr/>
          <p:nvPr/>
        </p:nvSpPr>
        <p:spPr>
          <a:xfrm>
            <a:off x="812800" y="3627121"/>
            <a:ext cx="88900" cy="88900"/>
          </a:xfrm>
          <a:prstGeom prst="roundRect">
            <a:avLst>
              <a:gd name="adj" fmla="val 50000"/>
            </a:avLst>
          </a:prstGeom>
          <a:solidFill>
            <a:srgbClr val="2A5BD7"/>
          </a:solidFill>
          <a:ln/>
        </p:spPr>
      </p:sp>
      <p:sp>
        <p:nvSpPr>
          <p:cNvPr id="12" name="Text 10"/>
          <p:cNvSpPr/>
          <p:nvPr/>
        </p:nvSpPr>
        <p:spPr>
          <a:xfrm>
            <a:off x="949960" y="3525521"/>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Quota par équipe et historique des versions d'un fichier</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Un non-membre ne peut pas télécharger un fichier, même en connaissant son identifiant.</a:t>
            </a:r>
            <a:endParaRPr lang="en-US" sz="1600" dirty="0"/>
          </a:p>
        </p:txBody>
      </p:sp>
      <p:sp>
        <p:nvSpPr>
          <p:cNvPr id="16" name="Text 14"/>
          <p:cNvSpPr/>
          <p:nvPr/>
        </p:nvSpPr>
        <p:spPr>
          <a:xfrm>
            <a:off x="7172960" y="3482342"/>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79"/>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Intégration continue et sécurité (3 j)</a:t>
            </a:r>
            <a:endParaRPr lang="en-US" sz="1500" dirty="0"/>
          </a:p>
        </p:txBody>
      </p:sp>
      <p:sp>
        <p:nvSpPr>
          <p:cNvPr id="18" name="Text 16"/>
          <p:cNvSpPr/>
          <p:nvPr/>
        </p:nvSpPr>
        <p:spPr>
          <a:xfrm>
            <a:off x="7172960" y="42341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592321"/>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et M3</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MODULE 7 · DEV 7 · 3 ENTITÉS · 12 FONCTIONNALITÉS</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Statistiques et rapports d'avancement</a:t>
            </a:r>
            <a:endParaRPr lang="en-US" sz="3200" dirty="0"/>
          </a:p>
        </p:txBody>
      </p:sp>
      <p:sp>
        <p:nvSpPr>
          <p:cNvPr id="4" name="Text 2"/>
          <p:cNvSpPr/>
          <p:nvPr/>
        </p:nvSpPr>
        <p:spPr>
          <a:xfrm>
            <a:off x="812800" y="1838964"/>
            <a:ext cx="602772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Ce que le module permet</a:t>
            </a:r>
            <a:endParaRPr lang="en-US" sz="1800" dirty="0"/>
          </a:p>
        </p:txBody>
      </p:sp>
      <p:sp>
        <p:nvSpPr>
          <p:cNvPr id="5" name="Shape 3"/>
          <p:cNvSpPr/>
          <p:nvPr/>
        </p:nvSpPr>
        <p:spPr>
          <a:xfrm>
            <a:off x="812800" y="2354579"/>
            <a:ext cx="88900" cy="88900"/>
          </a:xfrm>
          <a:prstGeom prst="roundRect">
            <a:avLst>
              <a:gd name="adj" fmla="val 50000"/>
            </a:avLst>
          </a:prstGeom>
          <a:solidFill>
            <a:srgbClr val="2A5BD7"/>
          </a:solidFill>
          <a:ln/>
        </p:spPr>
      </p:sp>
      <p:sp>
        <p:nvSpPr>
          <p:cNvPr id="6" name="Text 4"/>
          <p:cNvSpPr/>
          <p:nvPr/>
        </p:nvSpPr>
        <p:spPr>
          <a:xfrm>
            <a:off x="949960" y="2252979"/>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Avancement global, répartition par colonne et par priorité</a:t>
            </a:r>
            <a:endParaRPr lang="en-US" sz="1600" dirty="0"/>
          </a:p>
        </p:txBody>
      </p:sp>
      <p:sp>
        <p:nvSpPr>
          <p:cNvPr id="7" name="Shape 5"/>
          <p:cNvSpPr/>
          <p:nvPr/>
        </p:nvSpPr>
        <p:spPr>
          <a:xfrm>
            <a:off x="812800" y="2778764"/>
            <a:ext cx="88900" cy="88900"/>
          </a:xfrm>
          <a:prstGeom prst="roundRect">
            <a:avLst>
              <a:gd name="adj" fmla="val 50000"/>
            </a:avLst>
          </a:prstGeom>
          <a:solidFill>
            <a:srgbClr val="2A5BD7"/>
          </a:solidFill>
          <a:ln/>
        </p:spPr>
      </p:sp>
      <p:sp>
        <p:nvSpPr>
          <p:cNvPr id="8" name="Text 6"/>
          <p:cNvSpPr/>
          <p:nvPr/>
        </p:nvSpPr>
        <p:spPr>
          <a:xfrm>
            <a:off x="949960" y="2677164"/>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Charge par membre et journal d'activité du projet</a:t>
            </a:r>
            <a:endParaRPr lang="en-US" sz="1600" dirty="0"/>
          </a:p>
        </p:txBody>
      </p:sp>
      <p:sp>
        <p:nvSpPr>
          <p:cNvPr id="9" name="Shape 7"/>
          <p:cNvSpPr/>
          <p:nvPr/>
        </p:nvSpPr>
        <p:spPr>
          <a:xfrm>
            <a:off x="812800" y="3202942"/>
            <a:ext cx="88900" cy="88900"/>
          </a:xfrm>
          <a:prstGeom prst="roundRect">
            <a:avLst>
              <a:gd name="adj" fmla="val 50000"/>
            </a:avLst>
          </a:prstGeom>
          <a:solidFill>
            <a:srgbClr val="2A5BD7"/>
          </a:solidFill>
          <a:ln/>
        </p:spPr>
      </p:sp>
      <p:sp>
        <p:nvSpPr>
          <p:cNvPr id="10" name="Text 8"/>
          <p:cNvSpPr/>
          <p:nvPr/>
        </p:nvSpPr>
        <p:spPr>
          <a:xfrm>
            <a:off x="949960" y="3101342"/>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Burndown, vélocité et choix de la période</a:t>
            </a:r>
            <a:endParaRPr lang="en-US" sz="1600" dirty="0"/>
          </a:p>
        </p:txBody>
      </p:sp>
      <p:sp>
        <p:nvSpPr>
          <p:cNvPr id="11" name="Shape 9"/>
          <p:cNvSpPr/>
          <p:nvPr/>
        </p:nvSpPr>
        <p:spPr>
          <a:xfrm>
            <a:off x="812800" y="3627121"/>
            <a:ext cx="88900" cy="88900"/>
          </a:xfrm>
          <a:prstGeom prst="roundRect">
            <a:avLst>
              <a:gd name="adj" fmla="val 50000"/>
            </a:avLst>
          </a:prstGeom>
          <a:solidFill>
            <a:srgbClr val="2A5BD7"/>
          </a:solidFill>
          <a:ln/>
        </p:spPr>
      </p:sp>
      <p:sp>
        <p:nvSpPr>
          <p:cNvPr id="12" name="Text 10"/>
          <p:cNvSpPr/>
          <p:nvPr/>
        </p:nvSpPr>
        <p:spPr>
          <a:xfrm>
            <a:off x="949960" y="3525521"/>
            <a:ext cx="58864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Rapport d'avancement exportable en PDF et en CSV</a:t>
            </a:r>
            <a:endParaRPr lang="en-US" sz="1600" dirty="0"/>
          </a:p>
        </p:txBody>
      </p:sp>
      <p:sp>
        <p:nvSpPr>
          <p:cNvPr id="13" name="Shape 11"/>
          <p:cNvSpPr/>
          <p:nvPr/>
        </p:nvSpPr>
        <p:spPr>
          <a:xfrm>
            <a:off x="6868160" y="1838964"/>
            <a:ext cx="4511040" cy="4003040"/>
          </a:xfrm>
          <a:prstGeom prst="roundRect">
            <a:avLst>
              <a:gd name="adj" fmla="val 3173"/>
            </a:avLst>
          </a:prstGeom>
          <a:solidFill>
            <a:srgbClr val="14213D"/>
          </a:solidFill>
          <a:ln/>
        </p:spPr>
      </p:sp>
      <p:sp>
        <p:nvSpPr>
          <p:cNvPr id="14" name="Text 12"/>
          <p:cNvSpPr/>
          <p:nvPr/>
        </p:nvSpPr>
        <p:spPr>
          <a:xfrm>
            <a:off x="7172960" y="2143764"/>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CRITÈRE DE RÉUSSITE</a:t>
            </a:r>
            <a:endParaRPr lang="en-US" sz="1300" dirty="0"/>
          </a:p>
        </p:txBody>
      </p:sp>
      <p:sp>
        <p:nvSpPr>
          <p:cNvPr id="15" name="Text 13"/>
          <p:cNvSpPr/>
          <p:nvPr/>
        </p:nvSpPr>
        <p:spPr>
          <a:xfrm>
            <a:off x="7172960" y="2501900"/>
            <a:ext cx="40184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Le rapport contient l'avancement, la répartition, la charge par membre et les tâches en retard.</a:t>
            </a:r>
            <a:endParaRPr lang="en-US" sz="1600" dirty="0"/>
          </a:p>
        </p:txBody>
      </p:sp>
      <p:sp>
        <p:nvSpPr>
          <p:cNvPr id="16" name="Text 14"/>
          <p:cNvSpPr/>
          <p:nvPr/>
        </p:nvSpPr>
        <p:spPr>
          <a:xfrm>
            <a:off x="7172960" y="3482342"/>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RESPONSABILITÉ TRANSVERSE</a:t>
            </a:r>
            <a:endParaRPr lang="en-US" sz="1300" dirty="0"/>
          </a:p>
        </p:txBody>
      </p:sp>
      <p:sp>
        <p:nvSpPr>
          <p:cNvPr id="17" name="Text 15"/>
          <p:cNvSpPr/>
          <p:nvPr/>
        </p:nvSpPr>
        <p:spPr>
          <a:xfrm>
            <a:off x="7172960" y="3840479"/>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Documentation et données de démo (3 j)</a:t>
            </a:r>
            <a:endParaRPr lang="en-US" sz="1500" dirty="0"/>
          </a:p>
        </p:txBody>
      </p:sp>
      <p:sp>
        <p:nvSpPr>
          <p:cNvPr id="18" name="Text 16"/>
          <p:cNvSpPr/>
          <p:nvPr/>
        </p:nvSpPr>
        <p:spPr>
          <a:xfrm>
            <a:off x="7172960" y="4234179"/>
            <a:ext cx="401848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F2A33A"/>
                </a:solidFill>
                <a:latin typeface="Arial" pitchFamily="34" charset="0"/>
                <a:ea typeface="Arial" pitchFamily="34" charset="-122"/>
                <a:cs typeface="Arial" pitchFamily="34" charset="-120"/>
              </a:rPr>
              <a:t>DÉPEND DE</a:t>
            </a:r>
            <a:endParaRPr lang="en-US" sz="1300" dirty="0"/>
          </a:p>
        </p:txBody>
      </p:sp>
      <p:sp>
        <p:nvSpPr>
          <p:cNvPr id="19" name="Text 17"/>
          <p:cNvSpPr/>
          <p:nvPr/>
        </p:nvSpPr>
        <p:spPr>
          <a:xfrm>
            <a:off x="7172960" y="4592321"/>
            <a:ext cx="4018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8DC"/>
                </a:solidFill>
                <a:latin typeface="Arial" pitchFamily="34" charset="0"/>
                <a:ea typeface="Arial" pitchFamily="34" charset="-122"/>
                <a:cs typeface="Arial" pitchFamily="34" charset="-120"/>
              </a:rPr>
              <a:t>M1, M2, M3 et M4</a:t>
            </a:r>
            <a:endParaRPr lang="en-US" sz="1500" dirty="0"/>
          </a:p>
        </p:txBody>
      </p:sp>
      <p:sp>
        <p:nvSpPr>
          <p:cNvPr id="20" name="Text 18"/>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CHOIX TECHNIQUES</a:t>
            </a:r>
            <a:endParaRPr lang="en-US" sz="1400" dirty="0"/>
          </a:p>
        </p:txBody>
      </p:sp>
      <p:sp>
        <p:nvSpPr>
          <p:cNvPr id="3" name="Text 1"/>
          <p:cNvSpPr/>
          <p:nvPr>
            <p:ph type="title"/>
          </p:nvPr>
        </p:nvSpPr>
        <p:spPr>
          <a:xfrm>
            <a:off x="812800" y="1137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Une stack moderne, qui tourne en local</a:t>
            </a:r>
            <a:endParaRPr lang="en-US" sz="3400" dirty="0"/>
          </a:p>
        </p:txBody>
      </p:sp>
      <p:sp>
        <p:nvSpPr>
          <p:cNvPr id="4" name="Shape 2"/>
          <p:cNvSpPr/>
          <p:nvPr/>
        </p:nvSpPr>
        <p:spPr>
          <a:xfrm>
            <a:off x="815975" y="1870075"/>
            <a:ext cx="2520950" cy="2426970"/>
          </a:xfrm>
          <a:prstGeom prst="roundRect">
            <a:avLst>
              <a:gd name="adj" fmla="val 5102"/>
            </a:avLst>
          </a:prstGeom>
          <a:solidFill>
            <a:srgbClr val="FDFCF8"/>
          </a:solidFill>
          <a:ln w="6350">
            <a:solidFill>
              <a:srgbClr val="D9D4C5"/>
            </a:solidFill>
            <a:prstDash val="solid"/>
          </a:ln>
        </p:spPr>
      </p:sp>
      <p:sp>
        <p:nvSpPr>
          <p:cNvPr id="5" name="Shape 3"/>
          <p:cNvSpPr/>
          <p:nvPr/>
        </p:nvSpPr>
        <p:spPr>
          <a:xfrm>
            <a:off x="1021080" y="2075179"/>
            <a:ext cx="355600" cy="50800"/>
          </a:xfrm>
          <a:prstGeom prst="roundRect">
            <a:avLst>
              <a:gd name="adj" fmla="val 50000"/>
            </a:avLst>
          </a:prstGeom>
          <a:solidFill>
            <a:srgbClr val="2A5BD7"/>
          </a:solidFill>
          <a:ln/>
        </p:spPr>
      </p:sp>
      <p:sp>
        <p:nvSpPr>
          <p:cNvPr id="6" name="Text 4"/>
          <p:cNvSpPr/>
          <p:nvPr/>
        </p:nvSpPr>
        <p:spPr>
          <a:xfrm>
            <a:off x="1021080" y="2227579"/>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Interface</a:t>
            </a:r>
            <a:endParaRPr lang="en-US" sz="1700" dirty="0"/>
          </a:p>
        </p:txBody>
      </p:sp>
      <p:sp>
        <p:nvSpPr>
          <p:cNvPr id="7" name="Text 5"/>
          <p:cNvSpPr/>
          <p:nvPr/>
        </p:nvSpPr>
        <p:spPr>
          <a:xfrm>
            <a:off x="1021080" y="2588264"/>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Next.js (App Router), TypeScript, Tailwind CSS, shadcn/ui et dnd-kit pour le glisser-déposer</a:t>
            </a:r>
            <a:endParaRPr lang="en-US" sz="1400" dirty="0"/>
          </a:p>
        </p:txBody>
      </p:sp>
      <p:sp>
        <p:nvSpPr>
          <p:cNvPr id="8" name="Shape 6"/>
          <p:cNvSpPr/>
          <p:nvPr/>
        </p:nvSpPr>
        <p:spPr>
          <a:xfrm>
            <a:off x="3495675" y="1870075"/>
            <a:ext cx="2520950" cy="2426970"/>
          </a:xfrm>
          <a:prstGeom prst="roundRect">
            <a:avLst>
              <a:gd name="adj" fmla="val 5102"/>
            </a:avLst>
          </a:prstGeom>
          <a:solidFill>
            <a:srgbClr val="FDFCF8"/>
          </a:solidFill>
          <a:ln w="6350">
            <a:solidFill>
              <a:srgbClr val="D9D4C5"/>
            </a:solidFill>
            <a:prstDash val="solid"/>
          </a:ln>
        </p:spPr>
      </p:sp>
      <p:sp>
        <p:nvSpPr>
          <p:cNvPr id="9" name="Shape 7"/>
          <p:cNvSpPr/>
          <p:nvPr/>
        </p:nvSpPr>
        <p:spPr>
          <a:xfrm>
            <a:off x="3700780" y="2075179"/>
            <a:ext cx="355600" cy="50800"/>
          </a:xfrm>
          <a:prstGeom prst="roundRect">
            <a:avLst>
              <a:gd name="adj" fmla="val 50000"/>
            </a:avLst>
          </a:prstGeom>
          <a:solidFill>
            <a:srgbClr val="2A5BD7"/>
          </a:solidFill>
          <a:ln/>
        </p:spPr>
      </p:sp>
      <p:sp>
        <p:nvSpPr>
          <p:cNvPr id="10" name="Text 8"/>
          <p:cNvSpPr/>
          <p:nvPr/>
        </p:nvSpPr>
        <p:spPr>
          <a:xfrm>
            <a:off x="3700780" y="2227579"/>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Données</a:t>
            </a:r>
            <a:endParaRPr lang="en-US" sz="1700" dirty="0"/>
          </a:p>
        </p:txBody>
      </p:sp>
      <p:sp>
        <p:nvSpPr>
          <p:cNvPr id="11" name="Text 9"/>
          <p:cNvSpPr/>
          <p:nvPr/>
        </p:nvSpPr>
        <p:spPr>
          <a:xfrm>
            <a:off x="3700780" y="2588264"/>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PostgreSQL (ou SQLite en local), Prisma pour l'accès aux données, Zod pour la validation</a:t>
            </a:r>
            <a:endParaRPr lang="en-US" sz="1400" dirty="0"/>
          </a:p>
        </p:txBody>
      </p:sp>
      <p:sp>
        <p:nvSpPr>
          <p:cNvPr id="12" name="Shape 10"/>
          <p:cNvSpPr/>
          <p:nvPr/>
        </p:nvSpPr>
        <p:spPr>
          <a:xfrm>
            <a:off x="6175375" y="1870075"/>
            <a:ext cx="2520950" cy="2426970"/>
          </a:xfrm>
          <a:prstGeom prst="roundRect">
            <a:avLst>
              <a:gd name="adj" fmla="val 5102"/>
            </a:avLst>
          </a:prstGeom>
          <a:solidFill>
            <a:srgbClr val="FDFCF8"/>
          </a:solidFill>
          <a:ln w="6350">
            <a:solidFill>
              <a:srgbClr val="D9D4C5"/>
            </a:solidFill>
            <a:prstDash val="solid"/>
          </a:ln>
        </p:spPr>
      </p:sp>
      <p:sp>
        <p:nvSpPr>
          <p:cNvPr id="13" name="Shape 11"/>
          <p:cNvSpPr/>
          <p:nvPr/>
        </p:nvSpPr>
        <p:spPr>
          <a:xfrm>
            <a:off x="6380480" y="2075179"/>
            <a:ext cx="355600" cy="50800"/>
          </a:xfrm>
          <a:prstGeom prst="roundRect">
            <a:avLst>
              <a:gd name="adj" fmla="val 50000"/>
            </a:avLst>
          </a:prstGeom>
          <a:solidFill>
            <a:srgbClr val="2A5BD7"/>
          </a:solidFill>
          <a:ln/>
        </p:spPr>
      </p:sp>
      <p:sp>
        <p:nvSpPr>
          <p:cNvPr id="14" name="Text 12"/>
          <p:cNvSpPr/>
          <p:nvPr/>
        </p:nvSpPr>
        <p:spPr>
          <a:xfrm>
            <a:off x="6380480" y="2227579"/>
            <a:ext cx="2174062"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Comptes et temps réel</a:t>
            </a:r>
            <a:endParaRPr lang="en-US" sz="1700" dirty="0"/>
          </a:p>
        </p:txBody>
      </p:sp>
      <p:sp>
        <p:nvSpPr>
          <p:cNvPr id="15" name="Text 13"/>
          <p:cNvSpPr/>
          <p:nvPr/>
        </p:nvSpPr>
        <p:spPr>
          <a:xfrm>
            <a:off x="6380480" y="2847342"/>
            <a:ext cx="2174062"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Auth.js pour l'authentification, Socket.IO sur un petit serveur Node local pour le chat</a:t>
            </a:r>
            <a:endParaRPr lang="en-US" sz="1400" dirty="0"/>
          </a:p>
        </p:txBody>
      </p:sp>
      <p:sp>
        <p:nvSpPr>
          <p:cNvPr id="16" name="Shape 14"/>
          <p:cNvSpPr/>
          <p:nvPr/>
        </p:nvSpPr>
        <p:spPr>
          <a:xfrm>
            <a:off x="8855075" y="1870075"/>
            <a:ext cx="2520950" cy="2426970"/>
          </a:xfrm>
          <a:prstGeom prst="roundRect">
            <a:avLst>
              <a:gd name="adj" fmla="val 5102"/>
            </a:avLst>
          </a:prstGeom>
          <a:solidFill>
            <a:srgbClr val="FDFCF8"/>
          </a:solidFill>
          <a:ln w="6350">
            <a:solidFill>
              <a:srgbClr val="D9D4C5"/>
            </a:solidFill>
            <a:prstDash val="solid"/>
          </a:ln>
        </p:spPr>
      </p:sp>
      <p:sp>
        <p:nvSpPr>
          <p:cNvPr id="17" name="Shape 15"/>
          <p:cNvSpPr/>
          <p:nvPr/>
        </p:nvSpPr>
        <p:spPr>
          <a:xfrm>
            <a:off x="9060180" y="2075179"/>
            <a:ext cx="355600" cy="50800"/>
          </a:xfrm>
          <a:prstGeom prst="roundRect">
            <a:avLst>
              <a:gd name="adj" fmla="val 50000"/>
            </a:avLst>
          </a:prstGeom>
          <a:solidFill>
            <a:srgbClr val="2A5BD7"/>
          </a:solidFill>
          <a:ln/>
        </p:spPr>
      </p:sp>
      <p:sp>
        <p:nvSpPr>
          <p:cNvPr id="18" name="Text 16"/>
          <p:cNvSpPr/>
          <p:nvPr/>
        </p:nvSpPr>
        <p:spPr>
          <a:xfrm>
            <a:off x="9060180" y="2227579"/>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Qualité</a:t>
            </a:r>
            <a:endParaRPr lang="en-US" sz="1700" dirty="0"/>
          </a:p>
        </p:txBody>
      </p:sp>
      <p:sp>
        <p:nvSpPr>
          <p:cNvPr id="19" name="Text 17"/>
          <p:cNvSpPr/>
          <p:nvPr/>
        </p:nvSpPr>
        <p:spPr>
          <a:xfrm>
            <a:off x="9060180" y="2588264"/>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TypeScript strict, ESLint, Vitest, Playwright et GitHub Actions pour tester automatiquement</a:t>
            </a:r>
            <a:endParaRPr lang="en-US" sz="1400" dirty="0"/>
          </a:p>
        </p:txBody>
      </p:sp>
      <p:sp>
        <p:nvSpPr>
          <p:cNvPr id="20" name="Text 18"/>
          <p:cNvSpPr/>
          <p:nvPr/>
        </p:nvSpPr>
        <p:spPr>
          <a:xfrm>
            <a:off x="812800" y="4554221"/>
            <a:ext cx="10566400" cy="640080"/>
          </a:xfrm>
          <a:prstGeom prst="roundRect">
            <a:avLst>
              <a:gd name="adj" fmla="val 15873"/>
            </a:avLst>
          </a:prstGeom>
          <a:solidFill>
            <a:srgbClr val="14213D"/>
          </a:solidFill>
          <a:ln/>
        </p:spPr>
        <p:txBody>
          <a:bodyPr wrap="square" lIns="224242" tIns="148042" rIns="0" bIns="122642"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L'application se lance en local (docker compose up, puis pnpm dev) avec un jeu de données de démonstration.</a:t>
            </a:r>
            <a:endParaRPr lang="en-US" sz="1600" dirty="0"/>
          </a:p>
        </p:txBody>
      </p:sp>
      <p:sp>
        <p:nvSpPr>
          <p:cNvPr id="21" name="Text 19"/>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ARCHITECTURE</a:t>
            </a:r>
            <a:endParaRPr lang="en-US" sz="1400" dirty="0"/>
          </a:p>
        </p:txBody>
      </p:sp>
      <p:sp>
        <p:nvSpPr>
          <p:cNvPr id="3" name="Text 1"/>
          <p:cNvSpPr/>
          <p:nvPr>
            <p:ph type="title"/>
          </p:nvPr>
        </p:nvSpPr>
        <p:spPr>
          <a:xfrm>
            <a:off x="812800" y="1137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Les règles communes dès la semaine 1</a:t>
            </a:r>
            <a:endParaRPr lang="en-US" sz="3400" dirty="0"/>
          </a:p>
        </p:txBody>
      </p:sp>
      <p:sp>
        <p:nvSpPr>
          <p:cNvPr id="4" name="Shape 2"/>
          <p:cNvSpPr/>
          <p:nvPr/>
        </p:nvSpPr>
        <p:spPr>
          <a:xfrm>
            <a:off x="815975" y="1870075"/>
            <a:ext cx="3414157" cy="1164590"/>
          </a:xfrm>
          <a:prstGeom prst="roundRect">
            <a:avLst>
              <a:gd name="adj" fmla="val 10632"/>
            </a:avLst>
          </a:prstGeom>
          <a:solidFill>
            <a:srgbClr val="FDFCF8"/>
          </a:solidFill>
          <a:ln w="6350">
            <a:solidFill>
              <a:srgbClr val="D9D4C5"/>
            </a:solidFill>
            <a:prstDash val="solid"/>
          </a:ln>
        </p:spPr>
      </p:sp>
      <p:sp>
        <p:nvSpPr>
          <p:cNvPr id="5" name="Text 3"/>
          <p:cNvSpPr/>
          <p:nvPr/>
        </p:nvSpPr>
        <p:spPr>
          <a:xfrm>
            <a:off x="995680"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Un dossier par module</a:t>
            </a:r>
            <a:endParaRPr lang="en-US" sz="1600" dirty="0"/>
          </a:p>
        </p:txBody>
      </p:sp>
      <p:sp>
        <p:nvSpPr>
          <p:cNvPr id="6" name="Text 4"/>
          <p:cNvSpPr/>
          <p:nvPr/>
        </p:nvSpPr>
        <p:spPr>
          <a:xfrm>
            <a:off x="995680" y="2357127"/>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Chacun travaille dans le sien, donc moins de conflits Git</a:t>
            </a:r>
            <a:endParaRPr lang="en-US" sz="1400" dirty="0"/>
          </a:p>
        </p:txBody>
      </p:sp>
      <p:sp>
        <p:nvSpPr>
          <p:cNvPr id="7" name="Shape 5"/>
          <p:cNvSpPr/>
          <p:nvPr/>
        </p:nvSpPr>
        <p:spPr>
          <a:xfrm>
            <a:off x="4388882" y="1870075"/>
            <a:ext cx="3414157" cy="1164590"/>
          </a:xfrm>
          <a:prstGeom prst="roundRect">
            <a:avLst>
              <a:gd name="adj" fmla="val 10632"/>
            </a:avLst>
          </a:prstGeom>
          <a:solidFill>
            <a:srgbClr val="FDFCF8"/>
          </a:solidFill>
          <a:ln w="6350">
            <a:solidFill>
              <a:srgbClr val="D9D4C5"/>
            </a:solidFill>
            <a:prstDash val="solid"/>
          </a:ln>
        </p:spPr>
      </p:sp>
      <p:sp>
        <p:nvSpPr>
          <p:cNvPr id="8" name="Text 6"/>
          <p:cNvSpPr/>
          <p:nvPr/>
        </p:nvSpPr>
        <p:spPr>
          <a:xfrm>
            <a:off x="4568587"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Permissions centralisées</a:t>
            </a:r>
            <a:endParaRPr lang="en-US" sz="1600" dirty="0"/>
          </a:p>
        </p:txBody>
      </p:sp>
      <p:sp>
        <p:nvSpPr>
          <p:cNvPr id="9" name="Text 7"/>
          <p:cNvSpPr/>
          <p:nvPr/>
        </p:nvSpPr>
        <p:spPr>
          <a:xfrm>
            <a:off x="4568587" y="2357127"/>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Une seule bibliothèque vérifie les droits, côté serveur</a:t>
            </a:r>
            <a:endParaRPr lang="en-US" sz="1400" dirty="0"/>
          </a:p>
        </p:txBody>
      </p:sp>
      <p:sp>
        <p:nvSpPr>
          <p:cNvPr id="10" name="Shape 8"/>
          <p:cNvSpPr/>
          <p:nvPr/>
        </p:nvSpPr>
        <p:spPr>
          <a:xfrm>
            <a:off x="7961789" y="1870075"/>
            <a:ext cx="3414157" cy="1164590"/>
          </a:xfrm>
          <a:prstGeom prst="roundRect">
            <a:avLst>
              <a:gd name="adj" fmla="val 10632"/>
            </a:avLst>
          </a:prstGeom>
          <a:solidFill>
            <a:srgbClr val="FDFCF8"/>
          </a:solidFill>
          <a:ln w="6350">
            <a:solidFill>
              <a:srgbClr val="D9D4C5"/>
            </a:solidFill>
            <a:prstDash val="solid"/>
          </a:ln>
        </p:spPr>
      </p:sp>
      <p:sp>
        <p:nvSpPr>
          <p:cNvPr id="11" name="Text 9"/>
          <p:cNvSpPr/>
          <p:nvPr/>
        </p:nvSpPr>
        <p:spPr>
          <a:xfrm>
            <a:off x="8141494"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Ordre des cartes</a:t>
            </a:r>
            <a:endParaRPr lang="en-US" sz="1600" dirty="0"/>
          </a:p>
        </p:txBody>
      </p:sp>
      <p:sp>
        <p:nvSpPr>
          <p:cNvPr id="12" name="Text 10"/>
          <p:cNvSpPr/>
          <p:nvPr/>
        </p:nvSpPr>
        <p:spPr>
          <a:xfrm>
            <a:off x="8141494" y="2357127"/>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Une position texte (fractional indexing), sans tout renuméroter</a:t>
            </a:r>
            <a:endParaRPr lang="en-US" sz="1400" dirty="0"/>
          </a:p>
        </p:txBody>
      </p:sp>
      <p:sp>
        <p:nvSpPr>
          <p:cNvPr id="13" name="Shape 11"/>
          <p:cNvSpPr/>
          <p:nvPr/>
        </p:nvSpPr>
        <p:spPr>
          <a:xfrm>
            <a:off x="815975" y="3193417"/>
            <a:ext cx="3414157" cy="1164590"/>
          </a:xfrm>
          <a:prstGeom prst="roundRect">
            <a:avLst>
              <a:gd name="adj" fmla="val 10632"/>
            </a:avLst>
          </a:prstGeom>
          <a:solidFill>
            <a:srgbClr val="FDFCF8"/>
          </a:solidFill>
          <a:ln w="6350">
            <a:solidFill>
              <a:srgbClr val="D9D4C5"/>
            </a:solidFill>
            <a:prstDash val="solid"/>
          </a:ln>
        </p:spPr>
      </p:sp>
      <p:sp>
        <p:nvSpPr>
          <p:cNvPr id="14" name="Text 12"/>
          <p:cNvSpPr/>
          <p:nvPr/>
        </p:nvSpPr>
        <p:spPr>
          <a:xfrm>
            <a:off x="995680" y="3373127"/>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Événements en direct</a:t>
            </a:r>
            <a:endParaRPr lang="en-US" sz="1600" dirty="0"/>
          </a:p>
        </p:txBody>
      </p:sp>
      <p:sp>
        <p:nvSpPr>
          <p:cNvPr id="15" name="Text 13"/>
          <p:cNvSpPr/>
          <p:nvPr/>
        </p:nvSpPr>
        <p:spPr>
          <a:xfrm>
            <a:off x="995680" y="3680458"/>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Noms normalisés : task.moved, message.created, file.uploaded</a:t>
            </a:r>
            <a:endParaRPr lang="en-US" sz="1400" dirty="0"/>
          </a:p>
        </p:txBody>
      </p:sp>
      <p:sp>
        <p:nvSpPr>
          <p:cNvPr id="16" name="Shape 14"/>
          <p:cNvSpPr/>
          <p:nvPr/>
        </p:nvSpPr>
        <p:spPr>
          <a:xfrm>
            <a:off x="4388882" y="3193417"/>
            <a:ext cx="3414157" cy="1164590"/>
          </a:xfrm>
          <a:prstGeom prst="roundRect">
            <a:avLst>
              <a:gd name="adj" fmla="val 10632"/>
            </a:avLst>
          </a:prstGeom>
          <a:solidFill>
            <a:srgbClr val="FDFCF8"/>
          </a:solidFill>
          <a:ln w="6350">
            <a:solidFill>
              <a:srgbClr val="D9D4C5"/>
            </a:solidFill>
            <a:prstDash val="solid"/>
          </a:ln>
        </p:spPr>
      </p:sp>
      <p:sp>
        <p:nvSpPr>
          <p:cNvPr id="17" name="Text 15"/>
          <p:cNvSpPr/>
          <p:nvPr/>
        </p:nvSpPr>
        <p:spPr>
          <a:xfrm>
            <a:off x="4568587" y="3373127"/>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Journal et notifications</a:t>
            </a:r>
            <a:endParaRPr lang="en-US" sz="1600" dirty="0"/>
          </a:p>
        </p:txBody>
      </p:sp>
      <p:sp>
        <p:nvSpPr>
          <p:cNvPr id="18" name="Text 16"/>
          <p:cNvSpPr/>
          <p:nvPr/>
        </p:nvSpPr>
        <p:spPr>
          <a:xfrm>
            <a:off x="4568587" y="3680458"/>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Chaque action est enregistrée et prévient les personnes concernées</a:t>
            </a:r>
            <a:endParaRPr lang="en-US" sz="1400" dirty="0"/>
          </a:p>
        </p:txBody>
      </p:sp>
      <p:sp>
        <p:nvSpPr>
          <p:cNvPr id="19" name="Shape 17"/>
          <p:cNvSpPr/>
          <p:nvPr/>
        </p:nvSpPr>
        <p:spPr>
          <a:xfrm>
            <a:off x="7961789" y="3193417"/>
            <a:ext cx="3414157" cy="1164590"/>
          </a:xfrm>
          <a:prstGeom prst="roundRect">
            <a:avLst>
              <a:gd name="adj" fmla="val 10632"/>
            </a:avLst>
          </a:prstGeom>
          <a:solidFill>
            <a:srgbClr val="FDFCF8"/>
          </a:solidFill>
          <a:ln w="6350">
            <a:solidFill>
              <a:srgbClr val="D9D4C5"/>
            </a:solidFill>
            <a:prstDash val="solid"/>
          </a:ln>
        </p:spPr>
      </p:sp>
      <p:sp>
        <p:nvSpPr>
          <p:cNvPr id="20" name="Text 18"/>
          <p:cNvSpPr/>
          <p:nvPr/>
        </p:nvSpPr>
        <p:spPr>
          <a:xfrm>
            <a:off x="8141494" y="3373127"/>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Design system</a:t>
            </a:r>
            <a:endParaRPr lang="en-US" sz="1600" dirty="0"/>
          </a:p>
        </p:txBody>
      </p:sp>
      <p:sp>
        <p:nvSpPr>
          <p:cNvPr id="21" name="Text 19"/>
          <p:cNvSpPr/>
          <p:nvPr/>
        </p:nvSpPr>
        <p:spPr>
          <a:xfrm>
            <a:off x="8141494" y="3680458"/>
            <a:ext cx="31463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Composants et couleurs partagés, aucune valeur écrite en dur</a:t>
            </a:r>
            <a:endParaRPr lang="en-US" sz="1400" dirty="0"/>
          </a:p>
        </p:txBody>
      </p:sp>
      <p:sp>
        <p:nvSpPr>
          <p:cNvPr id="22" name="Text 20"/>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DONNÉES</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Trois entités par module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7060"/>
          <a:ext cx="10556240" cy="3281680"/>
        </p:xfrm>
        <a:graphic>
          <a:graphicData uri="http://schemas.openxmlformats.org/drawingml/2006/table">
            <a:tbl>
              <a:tblPr/>
              <a:tblGrid>
                <a:gridCol w="3589122"/>
                <a:gridCol w="6967118"/>
              </a:tblGrid>
              <a:tr h="410210">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Module</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Entités principales</a:t>
                      </a:r>
                      <a:endParaRPr lang="en-US" sz="1500" dirty="0">
                        <a:latin typeface="Arial" charset="0"/>
                        <a:ea typeface="Arial" charset="0"/>
                        <a:cs typeface="Arial"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M1 · Auth et équipes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User, Team, TeamMember</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M2 · Kanban</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Project, Column, ProjectTemplate</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M3 · Tâches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Task, Subtask, Label</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M4 · Calendrier</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Milestone, Reminder, CalendarToken</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M5 · Chat et notifications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Channel, Message, Notification</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M6 · Fichiers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File, Folder, FileVersion</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M7 · Statistiques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Activity, ProjectSnapshot, Report</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bl>
          </a:graphicData>
        </a:graphic>
      </p:graphicFrame>
      <p:sp>
        <p:nvSpPr>
          <p:cNvPr id="5" name="Text 2"/>
          <p:cNvSpPr/>
          <p:nvPr/>
        </p:nvSpPr>
        <p:spPr>
          <a:xfrm>
            <a:off x="812800" y="54127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21 entités au total, plus quelques tables de liaison et celles d'Auth.js.</a:t>
            </a:r>
            <a:endParaRPr lang="en-US" sz="1500" dirty="0"/>
          </a:p>
        </p:txBody>
      </p:sp>
      <p:sp>
        <p:nvSpPr>
          <p:cNvPr id="6" name="Text 3"/>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ORGANISATION</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Un module et une responsabilité chacun</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7060"/>
          <a:ext cx="10556240" cy="3281680"/>
        </p:xfrm>
        <a:graphic>
          <a:graphicData uri="http://schemas.openxmlformats.org/drawingml/2006/table">
            <a:tbl>
              <a:tblPr/>
              <a:tblGrid>
                <a:gridCol w="1372311"/>
                <a:gridCol w="3272434"/>
                <a:gridCol w="4644746"/>
                <a:gridCol w="1266749"/>
              </a:tblGrid>
              <a:tr h="410210">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Dev</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Module (15 j)</a:t>
                      </a:r>
                      <a:endParaRPr lang="en-US" sz="1500" dirty="0">
                        <a:latin typeface="Arial" charset="0"/>
                        <a:ea typeface="Arial" charset="0"/>
                        <a:cs typeface="Arial"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Responsabilité (3 j)</a:t>
                      </a:r>
                      <a:endParaRPr lang="en-US" sz="1500" dirty="0">
                        <a:latin typeface="Arial" charset="0"/>
                        <a:ea typeface="Arial" charset="0"/>
                        <a:cs typeface="Arial"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Arial" pitchFamily="34" charset="0"/>
                          <a:ea typeface="Arial" pitchFamily="34" charset="-122"/>
                          <a:cs typeface="Arial" pitchFamily="34" charset="-120"/>
                        </a:rPr>
                        <a:t>Total</a:t>
                      </a:r>
                      <a:endParaRPr lang="en-US" sz="1500" dirty="0">
                        <a:latin typeface="Arial" charset="0"/>
                        <a:ea typeface="Arial" charset="0"/>
                        <a:cs typeface="Arial"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1</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M1 · Auth et équipes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Bibliothèque de permissions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2</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M2 · Kanban</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Socle d'interface (layout, design)</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3</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M3 · Tâches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Schéma de données et migrations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4</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M4 · Calendrier</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Tests de bout en bout</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5</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M5 · Chat et notifications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Serveur temps réel et tâches planifiées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6</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M6 · Fichiers</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Intégration continue et sécurité</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41021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Dev 7</a:t>
                      </a:r>
                      <a:endParaRPr lang="en-US" sz="1500" dirty="0">
                        <a:latin typeface="Arial" charset="0"/>
                        <a:ea typeface="Arial" charset="0"/>
                        <a:cs typeface="Arial"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M7 · Statistiques</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Documentation et données de démo</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18 j</a:t>
                      </a:r>
                      <a:endParaRPr lang="en-US" sz="1500" dirty="0">
                        <a:latin typeface="Arial" charset="0"/>
                        <a:ea typeface="Arial" charset="0"/>
                        <a:cs typeface="Arial" charset="0"/>
                      </a:endParaRPr>
                    </a:p>
                  </a:txBody>
                  <a:tcPr marL="66675" marR="66675" marT="66675" marB="6667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bl>
          </a:graphicData>
        </a:graphic>
      </p:graphicFrame>
      <p:sp>
        <p:nvSpPr>
          <p:cNvPr id="5" name="Text 2"/>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MÉTHODE DE TRAVAIL</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Comment nous travaillons à sept</a:t>
            </a:r>
            <a:endParaRPr lang="en-US" sz="3400" dirty="0"/>
          </a:p>
        </p:txBody>
      </p:sp>
      <p:sp>
        <p:nvSpPr>
          <p:cNvPr id="4" name="Shape 2"/>
          <p:cNvSpPr/>
          <p:nvPr/>
        </p:nvSpPr>
        <p:spPr>
          <a:xfrm>
            <a:off x="815975" y="1870075"/>
            <a:ext cx="2520950" cy="2482850"/>
          </a:xfrm>
          <a:prstGeom prst="roundRect">
            <a:avLst>
              <a:gd name="adj" fmla="val 4987"/>
            </a:avLst>
          </a:prstGeom>
          <a:solidFill>
            <a:srgbClr val="FDFCF8"/>
          </a:solidFill>
          <a:ln w="6350">
            <a:solidFill>
              <a:srgbClr val="D9D4C5"/>
            </a:solidFill>
            <a:prstDash val="solid"/>
          </a:ln>
        </p:spPr>
      </p:sp>
      <p:pic>
        <p:nvPicPr>
          <p:cNvPr id="5" name="Image 0" descr="Code">    </p:cNvPr>
          <p:cNvPicPr>
            <a:picLocks noChangeAspect="1"/>
          </p:cNvPicPr>
          <p:nvPr/>
        </p:nvPicPr>
        <p:blipFill>
          <a:blip r:embed="rId1"/>
          <a:srcRect l="0" r="0" t="0" b="0"/>
          <a:stretch/>
        </p:blipFill>
        <p:spPr>
          <a:xfrm>
            <a:off x="1021080" y="2075185"/>
            <a:ext cx="355600" cy="355600"/>
          </a:xfrm>
          <a:prstGeom prst="rect">
            <a:avLst/>
          </a:prstGeom>
        </p:spPr>
      </p:pic>
      <p:sp>
        <p:nvSpPr>
          <p:cNvPr id="6" name="Text 3"/>
          <p:cNvSpPr/>
          <p:nvPr/>
        </p:nvSpPr>
        <p:spPr>
          <a:xfrm>
            <a:off x="1021080" y="2532385"/>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Git</a:t>
            </a:r>
            <a:endParaRPr lang="en-US" sz="1700" dirty="0"/>
          </a:p>
        </p:txBody>
      </p:sp>
      <p:sp>
        <p:nvSpPr>
          <p:cNvPr id="7" name="Text 4"/>
          <p:cNvSpPr/>
          <p:nvPr/>
        </p:nvSpPr>
        <p:spPr>
          <a:xfrm>
            <a:off x="1021080" y="2893058"/>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Branche main protégée, une branche par fonctionnalité, pull request relue par un autre module</a:t>
            </a:r>
            <a:endParaRPr lang="en-US" sz="1400" dirty="0"/>
          </a:p>
        </p:txBody>
      </p:sp>
      <p:sp>
        <p:nvSpPr>
          <p:cNvPr id="8" name="Shape 5"/>
          <p:cNvSpPr/>
          <p:nvPr/>
        </p:nvSpPr>
        <p:spPr>
          <a:xfrm>
            <a:off x="3495675" y="1870075"/>
            <a:ext cx="2520950" cy="2482850"/>
          </a:xfrm>
          <a:prstGeom prst="roundRect">
            <a:avLst>
              <a:gd name="adj" fmla="val 4987"/>
            </a:avLst>
          </a:prstGeom>
          <a:solidFill>
            <a:srgbClr val="FDFCF8"/>
          </a:solidFill>
          <a:ln w="6350">
            <a:solidFill>
              <a:srgbClr val="D9D4C5"/>
            </a:solidFill>
            <a:prstDash val="solid"/>
          </a:ln>
        </p:spPr>
      </p:sp>
      <p:pic>
        <p:nvPicPr>
          <p:cNvPr id="9" name="Image 1" descr="Users">    </p:cNvPr>
          <p:cNvPicPr>
            <a:picLocks noChangeAspect="1"/>
          </p:cNvPicPr>
          <p:nvPr/>
        </p:nvPicPr>
        <p:blipFill>
          <a:blip r:embed="rId2"/>
          <a:srcRect l="0" r="0" t="0" b="0"/>
          <a:stretch/>
        </p:blipFill>
        <p:spPr>
          <a:xfrm>
            <a:off x="3700780" y="2075185"/>
            <a:ext cx="355600" cy="355600"/>
          </a:xfrm>
          <a:prstGeom prst="rect">
            <a:avLst/>
          </a:prstGeom>
        </p:spPr>
      </p:pic>
      <p:sp>
        <p:nvSpPr>
          <p:cNvPr id="10" name="Text 6"/>
          <p:cNvSpPr/>
          <p:nvPr/>
        </p:nvSpPr>
        <p:spPr>
          <a:xfrm>
            <a:off x="3700780" y="2532385"/>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Rituels</a:t>
            </a:r>
            <a:endParaRPr lang="en-US" sz="1700" dirty="0"/>
          </a:p>
        </p:txBody>
      </p:sp>
      <p:sp>
        <p:nvSpPr>
          <p:cNvPr id="11" name="Text 7"/>
          <p:cNvSpPr/>
          <p:nvPr/>
        </p:nvSpPr>
        <p:spPr>
          <a:xfrm>
            <a:off x="3700780" y="2893058"/>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Deux points de quinze minutes par semaine et une démonstration à chaque fin de sprint</a:t>
            </a:r>
            <a:endParaRPr lang="en-US" sz="1400" dirty="0"/>
          </a:p>
        </p:txBody>
      </p:sp>
      <p:sp>
        <p:nvSpPr>
          <p:cNvPr id="12" name="Shape 8"/>
          <p:cNvSpPr/>
          <p:nvPr/>
        </p:nvSpPr>
        <p:spPr>
          <a:xfrm>
            <a:off x="6175375" y="1870075"/>
            <a:ext cx="2520950" cy="2482850"/>
          </a:xfrm>
          <a:prstGeom prst="roundRect">
            <a:avLst>
              <a:gd name="adj" fmla="val 4987"/>
            </a:avLst>
          </a:prstGeom>
          <a:solidFill>
            <a:srgbClr val="FDFCF8"/>
          </a:solidFill>
          <a:ln w="6350">
            <a:solidFill>
              <a:srgbClr val="D9D4C5"/>
            </a:solidFill>
            <a:prstDash val="solid"/>
          </a:ln>
        </p:spPr>
      </p:sp>
      <p:pic>
        <p:nvPicPr>
          <p:cNvPr id="13" name="Image 2" descr="CheckCircle">    </p:cNvPr>
          <p:cNvPicPr>
            <a:picLocks noChangeAspect="1"/>
          </p:cNvPicPr>
          <p:nvPr/>
        </p:nvPicPr>
        <p:blipFill>
          <a:blip r:embed="rId3"/>
          <a:srcRect l="0" r="0" t="0" b="0"/>
          <a:stretch/>
        </p:blipFill>
        <p:spPr>
          <a:xfrm>
            <a:off x="6380480" y="2075185"/>
            <a:ext cx="355600" cy="355600"/>
          </a:xfrm>
          <a:prstGeom prst="rect">
            <a:avLst/>
          </a:prstGeom>
        </p:spPr>
      </p:pic>
      <p:sp>
        <p:nvSpPr>
          <p:cNvPr id="14" name="Text 9"/>
          <p:cNvSpPr/>
          <p:nvPr/>
        </p:nvSpPr>
        <p:spPr>
          <a:xfrm>
            <a:off x="6380480" y="2532385"/>
            <a:ext cx="2174062"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Définition de « terminé »</a:t>
            </a:r>
            <a:endParaRPr lang="en-US" sz="1700" dirty="0"/>
          </a:p>
        </p:txBody>
      </p:sp>
      <p:sp>
        <p:nvSpPr>
          <p:cNvPr id="15" name="Text 10"/>
          <p:cNvSpPr/>
          <p:nvPr/>
        </p:nvSpPr>
        <p:spPr>
          <a:xfrm>
            <a:off x="6380480" y="3152142"/>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Critères respectés, code relu, permissions vérifiées côté serveur, test sur la logique critique</a:t>
            </a:r>
            <a:endParaRPr lang="en-US" sz="1400" dirty="0"/>
          </a:p>
        </p:txBody>
      </p:sp>
      <p:sp>
        <p:nvSpPr>
          <p:cNvPr id="16" name="Shape 11"/>
          <p:cNvSpPr/>
          <p:nvPr/>
        </p:nvSpPr>
        <p:spPr>
          <a:xfrm>
            <a:off x="8855075" y="1870075"/>
            <a:ext cx="2520950" cy="2482850"/>
          </a:xfrm>
          <a:prstGeom prst="roundRect">
            <a:avLst>
              <a:gd name="adj" fmla="val 4987"/>
            </a:avLst>
          </a:prstGeom>
          <a:solidFill>
            <a:srgbClr val="FDFCF8"/>
          </a:solidFill>
          <a:ln w="6350">
            <a:solidFill>
              <a:srgbClr val="D9D4C5"/>
            </a:solidFill>
            <a:prstDash val="solid"/>
          </a:ln>
        </p:spPr>
      </p:sp>
      <p:pic>
        <p:nvPicPr>
          <p:cNvPr id="17" name="Image 3" descr="Verified">    </p:cNvPr>
          <p:cNvPicPr>
            <a:picLocks noChangeAspect="1"/>
          </p:cNvPicPr>
          <p:nvPr/>
        </p:nvPicPr>
        <p:blipFill>
          <a:blip r:embed="rId4"/>
          <a:srcRect l="0" r="0" t="0" b="0"/>
          <a:stretch/>
        </p:blipFill>
        <p:spPr>
          <a:xfrm>
            <a:off x="9060180" y="2075185"/>
            <a:ext cx="355600" cy="355600"/>
          </a:xfrm>
          <a:prstGeom prst="rect">
            <a:avLst/>
          </a:prstGeom>
        </p:spPr>
      </p:pic>
      <p:sp>
        <p:nvSpPr>
          <p:cNvPr id="18" name="Text 12"/>
          <p:cNvSpPr/>
          <p:nvPr/>
        </p:nvSpPr>
        <p:spPr>
          <a:xfrm>
            <a:off x="9060180" y="2532385"/>
            <a:ext cx="217406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Qualité</a:t>
            </a:r>
            <a:endParaRPr lang="en-US" sz="1700" dirty="0"/>
          </a:p>
        </p:txBody>
      </p:sp>
      <p:sp>
        <p:nvSpPr>
          <p:cNvPr id="19" name="Text 13"/>
          <p:cNvSpPr/>
          <p:nvPr/>
        </p:nvSpPr>
        <p:spPr>
          <a:xfrm>
            <a:off x="9060180" y="2893058"/>
            <a:ext cx="21740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TypeScript strict, ESLint, tests unitaires, scénarios Playwright et intégration continue</a:t>
            </a:r>
            <a:endParaRPr lang="en-US" sz="1400" dirty="0"/>
          </a:p>
        </p:txBody>
      </p:sp>
      <p:sp>
        <p:nvSpPr>
          <p:cNvPr id="20" name="Text 14"/>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PLANNING</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Huit semaines, une intégration par sprint</a:t>
            </a:r>
            <a:endParaRPr lang="en-US" sz="3400" dirty="0"/>
          </a:p>
        </p:txBody>
      </p:sp>
      <p:sp>
        <p:nvSpPr>
          <p:cNvPr id="4" name="Shape 2"/>
          <p:cNvSpPr/>
          <p:nvPr/>
        </p:nvSpPr>
        <p:spPr>
          <a:xfrm>
            <a:off x="815975" y="1870075"/>
            <a:ext cx="1986994" cy="2010410"/>
          </a:xfrm>
          <a:prstGeom prst="roundRect">
            <a:avLst>
              <a:gd name="adj" fmla="val 6232"/>
            </a:avLst>
          </a:prstGeom>
          <a:solidFill>
            <a:srgbClr val="FDFCF8"/>
          </a:solidFill>
          <a:ln w="6350">
            <a:solidFill>
              <a:srgbClr val="D9D4C5"/>
            </a:solidFill>
            <a:prstDash val="solid"/>
          </a:ln>
        </p:spPr>
      </p:sp>
      <p:sp>
        <p:nvSpPr>
          <p:cNvPr id="5" name="Text 3"/>
          <p:cNvSpPr/>
          <p:nvPr/>
        </p:nvSpPr>
        <p:spPr>
          <a:xfrm>
            <a:off x="995680" y="2049785"/>
            <a:ext cx="16783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Arial" pitchFamily="34" charset="0"/>
                <a:ea typeface="Arial" pitchFamily="34" charset="-122"/>
                <a:cs typeface="Arial" pitchFamily="34" charset="-120"/>
              </a:rPr>
              <a:t>S0</a:t>
            </a:r>
            <a:endParaRPr lang="en-US" sz="2000" dirty="0"/>
          </a:p>
        </p:txBody>
      </p:sp>
      <p:sp>
        <p:nvSpPr>
          <p:cNvPr id="6" name="Text 4"/>
          <p:cNvSpPr/>
          <p:nvPr/>
        </p:nvSpPr>
        <p:spPr>
          <a:xfrm>
            <a:off x="995680" y="2468885"/>
            <a:ext cx="16783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Cadrage</a:t>
            </a:r>
            <a:endParaRPr lang="en-US" sz="1600" dirty="0"/>
          </a:p>
        </p:txBody>
      </p:sp>
      <p:sp>
        <p:nvSpPr>
          <p:cNvPr id="7" name="Text 5"/>
          <p:cNvSpPr/>
          <p:nvPr/>
        </p:nvSpPr>
        <p:spPr>
          <a:xfrm>
            <a:off x="995680" y="2776227"/>
            <a:ext cx="16783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Maquettes, dépôt Git, conventions</a:t>
            </a:r>
            <a:endParaRPr lang="en-US" sz="1300" dirty="0"/>
          </a:p>
        </p:txBody>
      </p:sp>
      <p:sp>
        <p:nvSpPr>
          <p:cNvPr id="8" name="Shape 6"/>
          <p:cNvSpPr/>
          <p:nvPr/>
        </p:nvSpPr>
        <p:spPr>
          <a:xfrm>
            <a:off x="2961719" y="1870075"/>
            <a:ext cx="1987074" cy="2010410"/>
          </a:xfrm>
          <a:prstGeom prst="roundRect">
            <a:avLst>
              <a:gd name="adj" fmla="val 6232"/>
            </a:avLst>
          </a:prstGeom>
          <a:solidFill>
            <a:srgbClr val="FDFCF8"/>
          </a:solidFill>
          <a:ln w="6350">
            <a:solidFill>
              <a:srgbClr val="D9D4C5"/>
            </a:solidFill>
            <a:prstDash val="solid"/>
          </a:ln>
        </p:spPr>
      </p:sp>
      <p:sp>
        <p:nvSpPr>
          <p:cNvPr id="9" name="Text 7"/>
          <p:cNvSpPr/>
          <p:nvPr/>
        </p:nvSpPr>
        <p:spPr>
          <a:xfrm>
            <a:off x="3141424" y="2049785"/>
            <a:ext cx="167846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Arial" pitchFamily="34" charset="0"/>
                <a:ea typeface="Arial" pitchFamily="34" charset="-122"/>
                <a:cs typeface="Arial" pitchFamily="34" charset="-120"/>
              </a:rPr>
              <a:t>S1</a:t>
            </a:r>
            <a:endParaRPr lang="en-US" sz="2000" dirty="0"/>
          </a:p>
        </p:txBody>
      </p:sp>
      <p:sp>
        <p:nvSpPr>
          <p:cNvPr id="10" name="Text 8"/>
          <p:cNvSpPr/>
          <p:nvPr/>
        </p:nvSpPr>
        <p:spPr>
          <a:xfrm>
            <a:off x="3141424" y="2468885"/>
            <a:ext cx="16784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Socle</a:t>
            </a:r>
            <a:endParaRPr lang="en-US" sz="1600" dirty="0"/>
          </a:p>
        </p:txBody>
      </p:sp>
      <p:sp>
        <p:nvSpPr>
          <p:cNvPr id="11" name="Text 9"/>
          <p:cNvSpPr/>
          <p:nvPr/>
        </p:nvSpPr>
        <p:spPr>
          <a:xfrm>
            <a:off x="3141424" y="2776227"/>
            <a:ext cx="167846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Base de données, authentification, mise en page commune</a:t>
            </a:r>
            <a:endParaRPr lang="en-US" sz="1300" dirty="0"/>
          </a:p>
        </p:txBody>
      </p:sp>
      <p:sp>
        <p:nvSpPr>
          <p:cNvPr id="12" name="Shape 10"/>
          <p:cNvSpPr/>
          <p:nvPr/>
        </p:nvSpPr>
        <p:spPr>
          <a:xfrm>
            <a:off x="5107543" y="1870075"/>
            <a:ext cx="1986994" cy="2010410"/>
          </a:xfrm>
          <a:prstGeom prst="roundRect">
            <a:avLst>
              <a:gd name="adj" fmla="val 6232"/>
            </a:avLst>
          </a:prstGeom>
          <a:solidFill>
            <a:srgbClr val="FDFCF8"/>
          </a:solidFill>
          <a:ln w="6350">
            <a:solidFill>
              <a:srgbClr val="D9D4C5"/>
            </a:solidFill>
            <a:prstDash val="solid"/>
          </a:ln>
        </p:spPr>
      </p:sp>
      <p:sp>
        <p:nvSpPr>
          <p:cNvPr id="13" name="Text 11"/>
          <p:cNvSpPr/>
          <p:nvPr/>
        </p:nvSpPr>
        <p:spPr>
          <a:xfrm>
            <a:off x="5287248" y="2049785"/>
            <a:ext cx="16783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Arial" pitchFamily="34" charset="0"/>
                <a:ea typeface="Arial" pitchFamily="34" charset="-122"/>
                <a:cs typeface="Arial" pitchFamily="34" charset="-120"/>
              </a:rPr>
              <a:t>S2 à S3</a:t>
            </a:r>
            <a:endParaRPr lang="en-US" sz="2000" dirty="0"/>
          </a:p>
        </p:txBody>
      </p:sp>
      <p:sp>
        <p:nvSpPr>
          <p:cNvPr id="14" name="Text 12"/>
          <p:cNvSpPr/>
          <p:nvPr/>
        </p:nvSpPr>
        <p:spPr>
          <a:xfrm>
            <a:off x="5287248" y="2468885"/>
            <a:ext cx="16783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Sprint 1</a:t>
            </a:r>
            <a:endParaRPr lang="en-US" sz="1600" dirty="0"/>
          </a:p>
        </p:txBody>
      </p:sp>
      <p:sp>
        <p:nvSpPr>
          <p:cNvPr id="15" name="Text 13"/>
          <p:cNvSpPr/>
          <p:nvPr/>
        </p:nvSpPr>
        <p:spPr>
          <a:xfrm>
            <a:off x="5287248" y="2776227"/>
            <a:ext cx="16783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Fonctions essentielles de chaque module, première intégration</a:t>
            </a:r>
            <a:endParaRPr lang="en-US" sz="1300" dirty="0"/>
          </a:p>
        </p:txBody>
      </p:sp>
      <p:sp>
        <p:nvSpPr>
          <p:cNvPr id="16" name="Shape 14"/>
          <p:cNvSpPr/>
          <p:nvPr/>
        </p:nvSpPr>
        <p:spPr>
          <a:xfrm>
            <a:off x="7253288" y="1870075"/>
            <a:ext cx="1987074" cy="2010410"/>
          </a:xfrm>
          <a:prstGeom prst="roundRect">
            <a:avLst>
              <a:gd name="adj" fmla="val 6232"/>
            </a:avLst>
          </a:prstGeom>
          <a:solidFill>
            <a:srgbClr val="FDFCF8"/>
          </a:solidFill>
          <a:ln w="6350">
            <a:solidFill>
              <a:srgbClr val="D9D4C5"/>
            </a:solidFill>
            <a:prstDash val="solid"/>
          </a:ln>
        </p:spPr>
      </p:sp>
      <p:sp>
        <p:nvSpPr>
          <p:cNvPr id="17" name="Text 15"/>
          <p:cNvSpPr/>
          <p:nvPr/>
        </p:nvSpPr>
        <p:spPr>
          <a:xfrm>
            <a:off x="7432993" y="2049785"/>
            <a:ext cx="167846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BD7"/>
                </a:solidFill>
                <a:latin typeface="Arial" pitchFamily="34" charset="0"/>
                <a:ea typeface="Arial" pitchFamily="34" charset="-122"/>
                <a:cs typeface="Arial" pitchFamily="34" charset="-120"/>
              </a:rPr>
              <a:t>S4 à S5</a:t>
            </a:r>
            <a:endParaRPr lang="en-US" sz="2000" dirty="0"/>
          </a:p>
        </p:txBody>
      </p:sp>
      <p:sp>
        <p:nvSpPr>
          <p:cNvPr id="18" name="Text 16"/>
          <p:cNvSpPr/>
          <p:nvPr/>
        </p:nvSpPr>
        <p:spPr>
          <a:xfrm>
            <a:off x="7432993" y="2468885"/>
            <a:ext cx="16784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Sprint 2</a:t>
            </a:r>
            <a:endParaRPr lang="en-US" sz="1600" dirty="0"/>
          </a:p>
        </p:txBody>
      </p:sp>
      <p:sp>
        <p:nvSpPr>
          <p:cNvPr id="19" name="Text 17"/>
          <p:cNvSpPr/>
          <p:nvPr/>
        </p:nvSpPr>
        <p:spPr>
          <a:xfrm>
            <a:off x="7432993" y="2776227"/>
            <a:ext cx="1678464"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Fonctions importantes, notifications, relecture croisée</a:t>
            </a:r>
            <a:endParaRPr lang="en-US" sz="1300" dirty="0"/>
          </a:p>
        </p:txBody>
      </p:sp>
      <p:sp>
        <p:nvSpPr>
          <p:cNvPr id="20" name="Shape 18"/>
          <p:cNvSpPr/>
          <p:nvPr/>
        </p:nvSpPr>
        <p:spPr>
          <a:xfrm>
            <a:off x="9395937" y="1866900"/>
            <a:ext cx="1983264" cy="2016760"/>
          </a:xfrm>
          <a:prstGeom prst="roundRect">
            <a:avLst>
              <a:gd name="adj" fmla="val 6404"/>
            </a:avLst>
          </a:prstGeom>
          <a:solidFill>
            <a:srgbClr val="14213D"/>
          </a:solidFill>
          <a:ln/>
        </p:spPr>
      </p:sp>
      <p:sp>
        <p:nvSpPr>
          <p:cNvPr id="21" name="Text 19"/>
          <p:cNvSpPr/>
          <p:nvPr/>
        </p:nvSpPr>
        <p:spPr>
          <a:xfrm>
            <a:off x="9573737" y="2044700"/>
            <a:ext cx="167846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33A"/>
                </a:solidFill>
                <a:latin typeface="Arial" pitchFamily="34" charset="0"/>
                <a:ea typeface="Arial" pitchFamily="34" charset="-122"/>
                <a:cs typeface="Arial" pitchFamily="34" charset="-120"/>
              </a:rPr>
              <a:t>S6 à S8</a:t>
            </a:r>
            <a:endParaRPr lang="en-US" sz="2000" dirty="0"/>
          </a:p>
        </p:txBody>
      </p:sp>
      <p:sp>
        <p:nvSpPr>
          <p:cNvPr id="22" name="Text 20"/>
          <p:cNvSpPr/>
          <p:nvPr/>
        </p:nvSpPr>
        <p:spPr>
          <a:xfrm>
            <a:off x="9573737" y="2463800"/>
            <a:ext cx="16784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Arial" pitchFamily="34" charset="0"/>
                <a:ea typeface="Arial" pitchFamily="34" charset="-122"/>
                <a:cs typeface="Arial" pitchFamily="34" charset="-120"/>
              </a:rPr>
              <a:t>Finalisation</a:t>
            </a:r>
            <a:endParaRPr lang="en-US" sz="1600" dirty="0"/>
          </a:p>
        </p:txBody>
      </p:sp>
      <p:sp>
        <p:nvSpPr>
          <p:cNvPr id="23" name="Text 21"/>
          <p:cNvSpPr/>
          <p:nvPr/>
        </p:nvSpPr>
        <p:spPr>
          <a:xfrm>
            <a:off x="9573737" y="2771142"/>
            <a:ext cx="1678464"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C"/>
                </a:solidFill>
                <a:latin typeface="Arial" pitchFamily="34" charset="0"/>
                <a:ea typeface="Arial" pitchFamily="34" charset="-122"/>
                <a:cs typeface="Arial" pitchFamily="34" charset="-120"/>
              </a:rPr>
              <a:t>Tests, accessibilité, documentation, répétition de la soutenance</a:t>
            </a:r>
            <a:endParaRPr lang="en-US" sz="1300" dirty="0"/>
          </a:p>
        </p:txBody>
      </p:sp>
      <p:sp>
        <p:nvSpPr>
          <p:cNvPr id="24" name="Text 22"/>
          <p:cNvSpPr/>
          <p:nvPr/>
        </p:nvSpPr>
        <p:spPr>
          <a:xfrm>
            <a:off x="812800" y="4137658"/>
            <a:ext cx="10883392"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4213D"/>
                </a:solidFill>
                <a:latin typeface="Arial" pitchFamily="34" charset="0"/>
                <a:ea typeface="Arial" pitchFamily="34" charset="-122"/>
                <a:cs typeface="Arial" pitchFamily="34" charset="-120"/>
              </a:rPr>
              <a:t>À chaque fin de sprint, l'application tourne avec tous les modules ensemble, même incomplets.</a:t>
            </a:r>
            <a:endParaRPr lang="en-US" sz="1700" dirty="0"/>
          </a:p>
        </p:txBody>
      </p:sp>
      <p:sp>
        <p:nvSpPr>
          <p:cNvPr id="25" name="Text 23"/>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RISQUES</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Ce qui peut mal tourner, et notre parade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7060"/>
          <a:ext cx="10556240" cy="2301240"/>
        </p:xfrm>
        <a:graphic>
          <a:graphicData uri="http://schemas.openxmlformats.org/drawingml/2006/table">
            <a:tbl>
              <a:tblPr/>
              <a:tblGrid>
                <a:gridCol w="4011371"/>
                <a:gridCol w="6544869"/>
              </a:tblGrid>
              <a:tr h="383540">
                <a:tc>
                  <a:txBody>
                    <a:bodyPr/>
                    <a:lstStyle/>
                    <a:p>
                      <a:pPr indent="0" marL="0">
                        <a:lnSpc>
                          <a:spcPts val="1960"/>
                        </a:lnSpc>
                        <a:buNone/>
                      </a:pPr>
                      <a:r>
                        <a:rPr lang="en-US" sz="1400" b="1" dirty="0">
                          <a:solidFill>
                            <a:srgbClr val="F7F5EF"/>
                          </a:solidFill>
                          <a:latin typeface="Arial" pitchFamily="34" charset="0"/>
                          <a:ea typeface="Arial" pitchFamily="34" charset="-122"/>
                          <a:cs typeface="Arial" pitchFamily="34" charset="-120"/>
                        </a:rPr>
                        <a:t>Risque</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5EF"/>
                          </a:solidFill>
                          <a:latin typeface="Arial" pitchFamily="34" charset="0"/>
                          <a:ea typeface="Arial" pitchFamily="34" charset="-122"/>
                          <a:cs typeface="Arial" pitchFamily="34" charset="-120"/>
                        </a:rPr>
                        <a:t>Notre parade</a:t>
                      </a:r>
                      <a:endParaRPr lang="en-US" sz="1400" dirty="0">
                        <a:latin typeface="Arial" charset="0"/>
                        <a:ea typeface="Arial" charset="0"/>
                        <a:cs typeface="Arial"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Conflits Git fréquents</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dossier par module, petites pull requests, rebase régulier</a:t>
                      </a:r>
                      <a:endParaRPr lang="en-US" sz="1400" dirty="0">
                        <a:latin typeface="Arial" charset="0"/>
                        <a:ea typeface="Arial" charset="0"/>
                        <a:cs typeface="Arial"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Retard d'un module bloquant</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Socle et modèle de tâche livrés dès S1, données fictives en attendant</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Schéma de base mal coordonné</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responsable du schéma, annonce avant chaque fusion</a:t>
                      </a:r>
                      <a:endParaRPr lang="en-US" sz="1400" dirty="0">
                        <a:latin typeface="Arial" charset="0"/>
                        <a:ea typeface="Arial" charset="0"/>
                        <a:cs typeface="Arial"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Intégration trop tardive</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Intégration et démonstration commune à chaque sprint</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8DC"/>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Accès aux données d'une autre équipe</a:t>
                      </a:r>
                      <a:endParaRPr lang="en-US" sz="1400" dirty="0">
                        <a:latin typeface="Arial" charset="0"/>
                        <a:ea typeface="Arial" charset="0"/>
                        <a:cs typeface="Arial" charset="0"/>
                      </a:endParaRPr>
                    </a:p>
                  </a:txBody>
                  <a:tcPr marL="62230" marR="62230" marT="62230" marB="62230" anchor="t">
                    <a:lnL w="12700" cap="flat" cmpd="sng" algn="ctr">
                      <a:solidFill>
                        <a:srgbClr val="BCB9B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Permissions centralisées, tests dédiés, audit en semaine 6</a:t>
                      </a:r>
                      <a:endParaRPr lang="en-US" sz="1400" dirty="0">
                        <a:latin typeface="Arial" charset="0"/>
                        <a:ea typeface="Arial" charset="0"/>
                        <a:cs typeface="Arial"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bl>
          </a:graphicData>
        </a:graphic>
      </p:graphicFrame>
      <p:sp>
        <p:nvSpPr>
          <p:cNvPr id="5" name="Text 2"/>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A33A"/>
                </a:solidFill>
                <a:latin typeface="Arial" pitchFamily="34" charset="0"/>
                <a:ea typeface="Arial" pitchFamily="34" charset="-122"/>
                <a:cs typeface="Arial" pitchFamily="34" charset="-120"/>
              </a:rPr>
              <a:t>DÉMONSTRATION</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7F5EF"/>
                </a:solidFill>
                <a:latin typeface="Arial" pitchFamily="34" charset="0"/>
                <a:ea typeface="Arial" pitchFamily="34" charset="-122"/>
                <a:cs typeface="Arial" pitchFamily="34" charset="-120"/>
              </a:rPr>
              <a:t>Le scénario que nous allons montrer</a:t>
            </a:r>
            <a:endParaRPr lang="en-US" sz="3400" dirty="0"/>
          </a:p>
        </p:txBody>
      </p:sp>
      <p:sp>
        <p:nvSpPr>
          <p:cNvPr id="4" name="Shape 2"/>
          <p:cNvSpPr/>
          <p:nvPr/>
        </p:nvSpPr>
        <p:spPr>
          <a:xfrm>
            <a:off x="812800" y="1866900"/>
            <a:ext cx="5207000" cy="975360"/>
          </a:xfrm>
          <a:prstGeom prst="roundRect">
            <a:avLst>
              <a:gd name="adj" fmla="val 13021"/>
            </a:avLst>
          </a:prstGeom>
          <a:solidFill>
            <a:srgbClr val="1E3158"/>
          </a:solidFill>
          <a:ln/>
        </p:spPr>
      </p:sp>
      <p:sp>
        <p:nvSpPr>
          <p:cNvPr id="5" name="Text 3"/>
          <p:cNvSpPr/>
          <p:nvPr/>
        </p:nvSpPr>
        <p:spPr>
          <a:xfrm>
            <a:off x="1016000" y="2070100"/>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625600" y="2070100"/>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Créer un compte et une équipe, inviter deux personnes (M1)</a:t>
            </a:r>
            <a:endParaRPr lang="en-US" sz="1600" dirty="0"/>
          </a:p>
        </p:txBody>
      </p:sp>
      <p:sp>
        <p:nvSpPr>
          <p:cNvPr id="7" name="Shape 5"/>
          <p:cNvSpPr/>
          <p:nvPr/>
        </p:nvSpPr>
        <p:spPr>
          <a:xfrm>
            <a:off x="6172200" y="1866900"/>
            <a:ext cx="5207000" cy="975360"/>
          </a:xfrm>
          <a:prstGeom prst="roundRect">
            <a:avLst>
              <a:gd name="adj" fmla="val 13021"/>
            </a:avLst>
          </a:prstGeom>
          <a:solidFill>
            <a:srgbClr val="1E3158"/>
          </a:solidFill>
          <a:ln/>
        </p:spPr>
      </p:sp>
      <p:sp>
        <p:nvSpPr>
          <p:cNvPr id="8" name="Text 6"/>
          <p:cNvSpPr/>
          <p:nvPr/>
        </p:nvSpPr>
        <p:spPr>
          <a:xfrm>
            <a:off x="6375400" y="2070100"/>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2</a:t>
            </a:r>
            <a:endParaRPr lang="en-US" sz="2800" dirty="0"/>
          </a:p>
        </p:txBody>
      </p:sp>
      <p:sp>
        <p:nvSpPr>
          <p:cNvPr id="9" name="Text 7"/>
          <p:cNvSpPr/>
          <p:nvPr/>
        </p:nvSpPr>
        <p:spPr>
          <a:xfrm>
            <a:off x="6985000" y="2070100"/>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Créer un projet et déplacer des cartes en glisser-déposer (M2)</a:t>
            </a:r>
            <a:endParaRPr lang="en-US" sz="1600" dirty="0"/>
          </a:p>
        </p:txBody>
      </p:sp>
      <p:sp>
        <p:nvSpPr>
          <p:cNvPr id="10" name="Shape 8"/>
          <p:cNvSpPr/>
          <p:nvPr/>
        </p:nvSpPr>
        <p:spPr>
          <a:xfrm>
            <a:off x="812800" y="2994658"/>
            <a:ext cx="5207000" cy="975360"/>
          </a:xfrm>
          <a:prstGeom prst="roundRect">
            <a:avLst>
              <a:gd name="adj" fmla="val 13021"/>
            </a:avLst>
          </a:prstGeom>
          <a:solidFill>
            <a:srgbClr val="1E3158"/>
          </a:solidFill>
          <a:ln/>
        </p:spPr>
      </p:sp>
      <p:sp>
        <p:nvSpPr>
          <p:cNvPr id="11" name="Text 9"/>
          <p:cNvSpPr/>
          <p:nvPr/>
        </p:nvSpPr>
        <p:spPr>
          <a:xfrm>
            <a:off x="1016000" y="3197858"/>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3</a:t>
            </a:r>
            <a:endParaRPr lang="en-US" sz="2800" dirty="0"/>
          </a:p>
        </p:txBody>
      </p:sp>
      <p:sp>
        <p:nvSpPr>
          <p:cNvPr id="12" name="Text 10"/>
          <p:cNvSpPr/>
          <p:nvPr/>
        </p:nvSpPr>
        <p:spPr>
          <a:xfrm>
            <a:off x="1625600" y="3197858"/>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Assigner des tâches, ajouter sous-tâches et échéances (M3)</a:t>
            </a:r>
            <a:endParaRPr lang="en-US" sz="1600" dirty="0"/>
          </a:p>
        </p:txBody>
      </p:sp>
      <p:sp>
        <p:nvSpPr>
          <p:cNvPr id="13" name="Shape 11"/>
          <p:cNvSpPr/>
          <p:nvPr/>
        </p:nvSpPr>
        <p:spPr>
          <a:xfrm>
            <a:off x="6172200" y="2994658"/>
            <a:ext cx="5207000" cy="975360"/>
          </a:xfrm>
          <a:prstGeom prst="roundRect">
            <a:avLst>
              <a:gd name="adj" fmla="val 13021"/>
            </a:avLst>
          </a:prstGeom>
          <a:solidFill>
            <a:srgbClr val="1E3158"/>
          </a:solidFill>
          <a:ln/>
        </p:spPr>
      </p:sp>
      <p:sp>
        <p:nvSpPr>
          <p:cNvPr id="14" name="Text 12"/>
          <p:cNvSpPr/>
          <p:nvPr/>
        </p:nvSpPr>
        <p:spPr>
          <a:xfrm>
            <a:off x="6375400" y="3197858"/>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4</a:t>
            </a:r>
            <a:endParaRPr lang="en-US" sz="2800" dirty="0"/>
          </a:p>
        </p:txBody>
      </p:sp>
      <p:sp>
        <p:nvSpPr>
          <p:cNvPr id="15" name="Text 13"/>
          <p:cNvSpPr/>
          <p:nvPr/>
        </p:nvSpPr>
        <p:spPr>
          <a:xfrm>
            <a:off x="6985000" y="3197858"/>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Retrouver les échéances dans le calendrier, créer un jalon (M4)</a:t>
            </a:r>
            <a:endParaRPr lang="en-US" sz="1600" dirty="0"/>
          </a:p>
        </p:txBody>
      </p:sp>
      <p:sp>
        <p:nvSpPr>
          <p:cNvPr id="16" name="Shape 14"/>
          <p:cNvSpPr/>
          <p:nvPr/>
        </p:nvSpPr>
        <p:spPr>
          <a:xfrm>
            <a:off x="812800" y="4122427"/>
            <a:ext cx="5207000" cy="975360"/>
          </a:xfrm>
          <a:prstGeom prst="roundRect">
            <a:avLst>
              <a:gd name="adj" fmla="val 13021"/>
            </a:avLst>
          </a:prstGeom>
          <a:solidFill>
            <a:srgbClr val="1E3158"/>
          </a:solidFill>
          <a:ln/>
        </p:spPr>
      </p:sp>
      <p:sp>
        <p:nvSpPr>
          <p:cNvPr id="17" name="Text 15"/>
          <p:cNvSpPr/>
          <p:nvPr/>
        </p:nvSpPr>
        <p:spPr>
          <a:xfrm>
            <a:off x="1016000" y="4325627"/>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5</a:t>
            </a:r>
            <a:endParaRPr lang="en-US" sz="2800" dirty="0"/>
          </a:p>
        </p:txBody>
      </p:sp>
      <p:sp>
        <p:nvSpPr>
          <p:cNvPr id="18" name="Text 16"/>
          <p:cNvSpPr/>
          <p:nvPr/>
        </p:nvSpPr>
        <p:spPr>
          <a:xfrm>
            <a:off x="1625600" y="4325627"/>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Discuter dans le chat, déposer et joindre un fichier (M5, M6)</a:t>
            </a:r>
            <a:endParaRPr lang="en-US" sz="1600" dirty="0"/>
          </a:p>
        </p:txBody>
      </p:sp>
      <p:sp>
        <p:nvSpPr>
          <p:cNvPr id="19" name="Shape 17"/>
          <p:cNvSpPr/>
          <p:nvPr/>
        </p:nvSpPr>
        <p:spPr>
          <a:xfrm>
            <a:off x="6172200" y="4122427"/>
            <a:ext cx="5207000" cy="975360"/>
          </a:xfrm>
          <a:prstGeom prst="roundRect">
            <a:avLst>
              <a:gd name="adj" fmla="val 13021"/>
            </a:avLst>
          </a:prstGeom>
          <a:solidFill>
            <a:srgbClr val="1E3158"/>
          </a:solidFill>
          <a:ln/>
        </p:spPr>
      </p:sp>
      <p:sp>
        <p:nvSpPr>
          <p:cNvPr id="20" name="Text 18"/>
          <p:cNvSpPr/>
          <p:nvPr/>
        </p:nvSpPr>
        <p:spPr>
          <a:xfrm>
            <a:off x="6375400" y="4325627"/>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2A33A"/>
                </a:solidFill>
                <a:latin typeface="Arial" pitchFamily="34" charset="0"/>
                <a:ea typeface="Arial" pitchFamily="34" charset="-122"/>
                <a:cs typeface="Arial" pitchFamily="34" charset="-120"/>
              </a:rPr>
              <a:t>6</a:t>
            </a:r>
            <a:endParaRPr lang="en-US" sz="2800" dirty="0"/>
          </a:p>
        </p:txBody>
      </p:sp>
      <p:sp>
        <p:nvSpPr>
          <p:cNvPr id="21" name="Text 19"/>
          <p:cNvSpPr/>
          <p:nvPr/>
        </p:nvSpPr>
        <p:spPr>
          <a:xfrm>
            <a:off x="6985000" y="4325627"/>
            <a:ext cx="425132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Arial" pitchFamily="34" charset="0"/>
                <a:ea typeface="Arial" pitchFamily="34" charset="-122"/>
                <a:cs typeface="Arial" pitchFamily="34" charset="-120"/>
              </a:rPr>
              <a:t>Consulter les statistiques et exporter le rapport PDF (M7)</a:t>
            </a:r>
            <a:endParaRPr lang="en-US" sz="1600" dirty="0"/>
          </a:p>
        </p:txBody>
      </p:sp>
      <p:sp>
        <p:nvSpPr>
          <p:cNvPr id="22" name="Text 20"/>
          <p:cNvSpPr/>
          <p:nvPr/>
        </p:nvSpPr>
        <p:spPr>
          <a:xfrm>
            <a:off x="812800" y="6238242"/>
            <a:ext cx="45953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5BF"/>
                </a:solidFill>
                <a:latin typeface="Arial" pitchFamily="34" charset="0"/>
                <a:ea typeface="Arial" pitchFamily="34" charset="-122"/>
                <a:cs typeface="Arial" pitchFamily="34" charset="-120"/>
              </a:rPr>
              <a:t>Démonstration en local, avec un jeu de données préparé</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A5BD7"/>
                </a:solidFill>
                <a:latin typeface="Arial" pitchFamily="34" charset="0"/>
                <a:ea typeface="Arial" pitchFamily="34" charset="-122"/>
                <a:cs typeface="Arial" pitchFamily="34" charset="-120"/>
              </a:rPr>
              <a:t>LIVRABLES</a:t>
            </a:r>
            <a:endParaRPr lang="en-US" sz="1400" dirty="0"/>
          </a:p>
        </p:txBody>
      </p:sp>
      <p:sp>
        <p:nvSpPr>
          <p:cNvPr id="3" name="Text 1"/>
          <p:cNvSpPr/>
          <p:nvPr>
            <p:ph type="title"/>
          </p:nvPr>
        </p:nvSpPr>
        <p:spPr>
          <a:xfrm>
            <a:off x="812800" y="1137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Arial" pitchFamily="34" charset="0"/>
                <a:ea typeface="Arial" pitchFamily="34" charset="-122"/>
                <a:cs typeface="Arial" pitchFamily="34" charset="-120"/>
              </a:rPr>
              <a:t>Ce que nous rendons</a:t>
            </a:r>
            <a:endParaRPr lang="en-US" sz="3400" dirty="0"/>
          </a:p>
        </p:txBody>
      </p:sp>
      <p:sp>
        <p:nvSpPr>
          <p:cNvPr id="4" name="Shape 2"/>
          <p:cNvSpPr/>
          <p:nvPr/>
        </p:nvSpPr>
        <p:spPr>
          <a:xfrm>
            <a:off x="815975" y="1870075"/>
            <a:ext cx="3414157" cy="1129030"/>
          </a:xfrm>
          <a:prstGeom prst="roundRect">
            <a:avLst>
              <a:gd name="adj" fmla="val 10967"/>
            </a:avLst>
          </a:prstGeom>
          <a:solidFill>
            <a:srgbClr val="FDFCF8"/>
          </a:solidFill>
          <a:ln w="6350">
            <a:solidFill>
              <a:srgbClr val="D9D4C5"/>
            </a:solidFill>
            <a:prstDash val="solid"/>
          </a:ln>
        </p:spPr>
      </p:sp>
      <p:sp>
        <p:nvSpPr>
          <p:cNvPr id="5" name="Text 3"/>
          <p:cNvSpPr/>
          <p:nvPr/>
        </p:nvSpPr>
        <p:spPr>
          <a:xfrm>
            <a:off x="995680"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Code source</a:t>
            </a:r>
            <a:endParaRPr lang="en-US" sz="1600" dirty="0"/>
          </a:p>
        </p:txBody>
      </p:sp>
      <p:sp>
        <p:nvSpPr>
          <p:cNvPr id="6" name="Text 4"/>
          <p:cNvSpPr/>
          <p:nvPr/>
        </p:nvSpPr>
        <p:spPr>
          <a:xfrm>
            <a:off x="995680" y="2357127"/>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Dépôt Git propre et README d'installation en moins de 10 minutes</a:t>
            </a:r>
            <a:endParaRPr lang="en-US" sz="1300" dirty="0"/>
          </a:p>
        </p:txBody>
      </p:sp>
      <p:sp>
        <p:nvSpPr>
          <p:cNvPr id="7" name="Shape 5"/>
          <p:cNvSpPr/>
          <p:nvPr/>
        </p:nvSpPr>
        <p:spPr>
          <a:xfrm>
            <a:off x="4388882" y="1870075"/>
            <a:ext cx="3414157" cy="1129030"/>
          </a:xfrm>
          <a:prstGeom prst="roundRect">
            <a:avLst>
              <a:gd name="adj" fmla="val 10967"/>
            </a:avLst>
          </a:prstGeom>
          <a:solidFill>
            <a:srgbClr val="FDFCF8"/>
          </a:solidFill>
          <a:ln w="6350">
            <a:solidFill>
              <a:srgbClr val="D9D4C5"/>
            </a:solidFill>
            <a:prstDash val="solid"/>
          </a:ln>
        </p:spPr>
      </p:sp>
      <p:sp>
        <p:nvSpPr>
          <p:cNvPr id="8" name="Text 6"/>
          <p:cNvSpPr/>
          <p:nvPr/>
        </p:nvSpPr>
        <p:spPr>
          <a:xfrm>
            <a:off x="4568587"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Base de données</a:t>
            </a:r>
            <a:endParaRPr lang="en-US" sz="1600" dirty="0"/>
          </a:p>
        </p:txBody>
      </p:sp>
      <p:sp>
        <p:nvSpPr>
          <p:cNvPr id="9" name="Text 7"/>
          <p:cNvSpPr/>
          <p:nvPr/>
        </p:nvSpPr>
        <p:spPr>
          <a:xfrm>
            <a:off x="4568587" y="2357127"/>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Schéma Prisma, migrations et jeu de données de démonstration</a:t>
            </a:r>
            <a:endParaRPr lang="en-US" sz="1300" dirty="0"/>
          </a:p>
        </p:txBody>
      </p:sp>
      <p:sp>
        <p:nvSpPr>
          <p:cNvPr id="10" name="Shape 8"/>
          <p:cNvSpPr/>
          <p:nvPr/>
        </p:nvSpPr>
        <p:spPr>
          <a:xfrm>
            <a:off x="7961789" y="1870075"/>
            <a:ext cx="3414157" cy="1129030"/>
          </a:xfrm>
          <a:prstGeom prst="roundRect">
            <a:avLst>
              <a:gd name="adj" fmla="val 10967"/>
            </a:avLst>
          </a:prstGeom>
          <a:solidFill>
            <a:srgbClr val="FDFCF8"/>
          </a:solidFill>
          <a:ln w="6350">
            <a:solidFill>
              <a:srgbClr val="D9D4C5"/>
            </a:solidFill>
            <a:prstDash val="solid"/>
          </a:ln>
        </p:spPr>
      </p:sp>
      <p:sp>
        <p:nvSpPr>
          <p:cNvPr id="11" name="Text 9"/>
          <p:cNvSpPr/>
          <p:nvPr/>
        </p:nvSpPr>
        <p:spPr>
          <a:xfrm>
            <a:off x="8141494" y="2049785"/>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Documentation</a:t>
            </a:r>
            <a:endParaRPr lang="en-US" sz="1600" dirty="0"/>
          </a:p>
        </p:txBody>
      </p:sp>
      <p:sp>
        <p:nvSpPr>
          <p:cNvPr id="12" name="Text 10"/>
          <p:cNvSpPr/>
          <p:nvPr/>
        </p:nvSpPr>
        <p:spPr>
          <a:xfrm>
            <a:off x="8141494" y="2357127"/>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Architecture, une page par module, guide de prise en main</a:t>
            </a:r>
            <a:endParaRPr lang="en-US" sz="1300" dirty="0"/>
          </a:p>
        </p:txBody>
      </p:sp>
      <p:sp>
        <p:nvSpPr>
          <p:cNvPr id="13" name="Shape 11"/>
          <p:cNvSpPr/>
          <p:nvPr/>
        </p:nvSpPr>
        <p:spPr>
          <a:xfrm>
            <a:off x="815975" y="3157860"/>
            <a:ext cx="3414157" cy="1129030"/>
          </a:xfrm>
          <a:prstGeom prst="roundRect">
            <a:avLst>
              <a:gd name="adj" fmla="val 10967"/>
            </a:avLst>
          </a:prstGeom>
          <a:solidFill>
            <a:srgbClr val="FDFCF8"/>
          </a:solidFill>
          <a:ln w="6350">
            <a:solidFill>
              <a:srgbClr val="D9D4C5"/>
            </a:solidFill>
            <a:prstDash val="solid"/>
          </a:ln>
        </p:spPr>
      </p:sp>
      <p:sp>
        <p:nvSpPr>
          <p:cNvPr id="14" name="Text 12"/>
          <p:cNvSpPr/>
          <p:nvPr/>
        </p:nvSpPr>
        <p:spPr>
          <a:xfrm>
            <a:off x="995680" y="3337558"/>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Rapport de projet</a:t>
            </a:r>
            <a:endParaRPr lang="en-US" sz="1600" dirty="0"/>
          </a:p>
        </p:txBody>
      </p:sp>
      <p:sp>
        <p:nvSpPr>
          <p:cNvPr id="15" name="Text 13"/>
          <p:cNvSpPr/>
          <p:nvPr/>
        </p:nvSpPr>
        <p:spPr>
          <a:xfrm>
            <a:off x="995680" y="3644900"/>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Organisation, choix techniques, bilan individuel par module</a:t>
            </a:r>
            <a:endParaRPr lang="en-US" sz="1300" dirty="0"/>
          </a:p>
        </p:txBody>
      </p:sp>
      <p:sp>
        <p:nvSpPr>
          <p:cNvPr id="16" name="Shape 14"/>
          <p:cNvSpPr/>
          <p:nvPr/>
        </p:nvSpPr>
        <p:spPr>
          <a:xfrm>
            <a:off x="4388882" y="3157860"/>
            <a:ext cx="3414157" cy="1129030"/>
          </a:xfrm>
          <a:prstGeom prst="roundRect">
            <a:avLst>
              <a:gd name="adj" fmla="val 10967"/>
            </a:avLst>
          </a:prstGeom>
          <a:solidFill>
            <a:srgbClr val="FDFCF8"/>
          </a:solidFill>
          <a:ln w="6350">
            <a:solidFill>
              <a:srgbClr val="D9D4C5"/>
            </a:solidFill>
            <a:prstDash val="solid"/>
          </a:ln>
        </p:spPr>
      </p:sp>
      <p:sp>
        <p:nvSpPr>
          <p:cNvPr id="17" name="Text 15"/>
          <p:cNvSpPr/>
          <p:nvPr/>
        </p:nvSpPr>
        <p:spPr>
          <a:xfrm>
            <a:off x="4568587" y="3337558"/>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Tests automatisés</a:t>
            </a:r>
            <a:endParaRPr lang="en-US" sz="1600" dirty="0"/>
          </a:p>
        </p:txBody>
      </p:sp>
      <p:sp>
        <p:nvSpPr>
          <p:cNvPr id="18" name="Text 16"/>
          <p:cNvSpPr/>
          <p:nvPr/>
        </p:nvSpPr>
        <p:spPr>
          <a:xfrm>
            <a:off x="4568587" y="3644900"/>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Tests unitaires, scénarios de bout en bout et leurs résultats</a:t>
            </a:r>
            <a:endParaRPr lang="en-US" sz="1300" dirty="0"/>
          </a:p>
        </p:txBody>
      </p:sp>
      <p:sp>
        <p:nvSpPr>
          <p:cNvPr id="19" name="Shape 17"/>
          <p:cNvSpPr/>
          <p:nvPr/>
        </p:nvSpPr>
        <p:spPr>
          <a:xfrm>
            <a:off x="7961789" y="3157860"/>
            <a:ext cx="3414157" cy="1129030"/>
          </a:xfrm>
          <a:prstGeom prst="roundRect">
            <a:avLst>
              <a:gd name="adj" fmla="val 10967"/>
            </a:avLst>
          </a:prstGeom>
          <a:solidFill>
            <a:srgbClr val="FDFCF8"/>
          </a:solidFill>
          <a:ln w="6350">
            <a:solidFill>
              <a:srgbClr val="D9D4C5"/>
            </a:solidFill>
            <a:prstDash val="solid"/>
          </a:ln>
        </p:spPr>
      </p:sp>
      <p:sp>
        <p:nvSpPr>
          <p:cNvPr id="20" name="Text 18"/>
          <p:cNvSpPr/>
          <p:nvPr/>
        </p:nvSpPr>
        <p:spPr>
          <a:xfrm>
            <a:off x="8141494" y="3337558"/>
            <a:ext cx="31463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Soutenance et démo</a:t>
            </a:r>
            <a:endParaRPr lang="en-US" sz="1600" dirty="0"/>
          </a:p>
        </p:txBody>
      </p:sp>
      <p:sp>
        <p:nvSpPr>
          <p:cNvPr id="21" name="Text 19"/>
          <p:cNvSpPr/>
          <p:nvPr/>
        </p:nvSpPr>
        <p:spPr>
          <a:xfrm>
            <a:off x="8141494" y="3644900"/>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Support de présentation et démonstration en local</a:t>
            </a:r>
            <a:endParaRPr lang="en-US" sz="1300" dirty="0"/>
          </a:p>
        </p:txBody>
      </p:sp>
      <p:sp>
        <p:nvSpPr>
          <p:cNvPr id="22" name="Text 20"/>
          <p:cNvSpPr/>
          <p:nvPr/>
        </p:nvSpPr>
        <p:spPr>
          <a:xfrm>
            <a:off x="812800" y="4544058"/>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Barème indicatif : fonctionnalités essentielles 30 %, code et tests 20 %, intégration 15 %, sécurité 10 %, ergonomie 10 %, documentation 10 %, soutenance 5 %.</a:t>
            </a:r>
            <a:endParaRPr lang="en-US" sz="1300" dirty="0"/>
          </a:p>
        </p:txBody>
      </p:sp>
      <p:sp>
        <p:nvSpPr>
          <p:cNvPr id="23" name="Text 21"/>
          <p:cNvSpPr/>
          <p:nvPr/>
        </p:nvSpPr>
        <p:spPr>
          <a:xfrm>
            <a:off x="812800" y="6238242"/>
            <a:ext cx="853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Arial" pitchFamily="34" charset="0"/>
                <a:ea typeface="Arial" pitchFamily="34" charset="-122"/>
                <a:cs typeface="Arial" pitchFamily="34" charset="-120"/>
              </a:rPr>
              <a:t>StudyFlow</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353308"/>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A33A"/>
                </a:solidFill>
                <a:latin typeface="Arial" pitchFamily="34" charset="0"/>
                <a:ea typeface="Arial" pitchFamily="34" charset="-122"/>
                <a:cs typeface="Arial" pitchFamily="34" charset="-120"/>
              </a:rPr>
              <a:t>STUDYFLOW</a:t>
            </a:r>
            <a:endParaRPr lang="en-US" sz="1400" dirty="0"/>
          </a:p>
        </p:txBody>
      </p:sp>
      <p:sp>
        <p:nvSpPr>
          <p:cNvPr id="3" name="Text 1"/>
          <p:cNvSpPr/>
          <p:nvPr>
            <p:ph type="title"/>
          </p:nvPr>
        </p:nvSpPr>
        <p:spPr>
          <a:xfrm>
            <a:off x="812800" y="2805435"/>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7F5EF"/>
                </a:solidFill>
                <a:latin typeface="Arial" pitchFamily="34" charset="0"/>
                <a:ea typeface="Arial" pitchFamily="34" charset="-122"/>
                <a:cs typeface="Arial" pitchFamily="34" charset="-120"/>
              </a:rPr>
              <a:t>Merci</a:t>
            </a:r>
            <a:endParaRPr lang="en-US" sz="8000" dirty="0"/>
          </a:p>
        </p:txBody>
      </p:sp>
      <p:sp>
        <p:nvSpPr>
          <p:cNvPr id="4" name="Text 2"/>
          <p:cNvSpPr/>
          <p:nvPr/>
        </p:nvSpPr>
        <p:spPr>
          <a:xfrm>
            <a:off x="812800" y="4075435"/>
            <a:ext cx="10883392" cy="454660"/>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BFC8DC"/>
                </a:solidFill>
                <a:latin typeface="Arial" pitchFamily="34" charset="0"/>
                <a:ea typeface="Arial" pitchFamily="34" charset="-122"/>
                <a:cs typeface="Arial" pitchFamily="34" charset="-120"/>
              </a:rPr>
              <a:t>Des questions ?</a:t>
            </a:r>
            <a:endParaRPr lang="en-US" sz="2600" dirty="0"/>
          </a:p>
        </p:txBody>
      </p:sp>
      <p:sp>
        <p:nvSpPr>
          <p:cNvPr id="5" name="Text 3"/>
          <p:cNvSpPr/>
          <p:nvPr/>
        </p:nvSpPr>
        <p:spPr>
          <a:xfrm>
            <a:off x="812800" y="6202685"/>
            <a:ext cx="666521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5BF"/>
                </a:solidFill>
                <a:latin typeface="Arial" pitchFamily="34" charset="0"/>
                <a:ea typeface="Arial" pitchFamily="34" charset="-122"/>
                <a:cs typeface="Arial" pitchFamily="34" charset="-120"/>
              </a:rPr>
              <a:t>Équipe de 7 développeurs · [Nom de la matière] · [Année universitaire]</a:t>
            </a:r>
            <a:endParaRPr lang="en-US" sz="1400" dirty="0"/>
          </a:p>
        </p:txBody>
      </p:sp>
    </p:spTree>
  </p:cSld>
  <p:clrMapOvr>
    <a:masterClrMapping/>
  </p:clrMapOvr>
</p:sld>
</file>

<file path=ppt/theme/theme1.xml><?xml version="1.0" encoding="utf-8"?>
<a:theme xmlns:a="http://schemas.openxmlformats.org/drawingml/2006/main" name="StudyFlow : présentation du projet">
  <a:themeElements>
    <a:clrScheme name="StudyFlow : présentation du projet">
      <a:dk1>
        <a:srgbClr val="14213D"/>
      </a:dk1>
      <a:lt1>
        <a:srgbClr val="F7F5EF"/>
      </a:lt1>
      <a:dk2>
        <a:srgbClr val="4D566A"/>
      </a:dk2>
      <a:lt2>
        <a:srgbClr val="E0E0DD"/>
      </a:lt2>
      <a:accent1>
        <a:srgbClr val="2A5BD7"/>
      </a:accent1>
      <a:accent2>
        <a:srgbClr val="F2A33A"/>
      </a:accent2>
      <a:accent3>
        <a:srgbClr val="1E3158"/>
      </a:accent3>
      <a:accent4>
        <a:srgbClr val="5B6D96"/>
      </a:accent4>
      <a:accent5>
        <a:srgbClr val="176B57"/>
      </a:accent5>
      <a:accent6>
        <a:srgbClr val="7A3E8E"/>
      </a:accent6>
      <a:hlink>
        <a:srgbClr val="0563C1"/>
      </a:hlink>
      <a:folHlink>
        <a:srgbClr val="954F72"/>
      </a:folHlink>
    </a:clrScheme>
    <a:fontScheme name="StudyFlow : présentation du proj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StudyFlow : présentation du projet</dc:title>
  <dc:subject/>
  <dc:creator/>
  <cp:lastModifiedBy/>
  <cp:revision>1</cp:revision>
  <dcterms:created xsi:type="dcterms:W3CDTF">2026-10-09T20:30:26Z</dcterms:created>
  <dcterms:modified xsi:type="dcterms:W3CDTF">2026-10-09T20:30:26Z</dcterms:modified>
</cp:coreProperties>
</file>